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
<Relationships xmlns="http://schemas.openxmlformats.org/package/2006/relationships">
  
		
  <Relationship Id="rId1" Type="http://schemas.openxmlformats.org/officeDocument/2006/relationships/extended-properties" Target="docProps/app.xml"/>
  
		
  <Relationship Id="rId2" Type="http://schemas.openxmlformats.org/package/2006/relationships/metadata/core-properties" Target="docProps/core.xml"/>
  
		
  <Relationship Id="rId3" Type="http://schemas.openxmlformats.org/officeDocument/2006/relationships/officeDocument" Target="ppt/presentation.xml"/>
  
		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slide" Target="slides/slide7.xml"/>
  <Relationship Id="rId9" Type="http://schemas.openxmlformats.org/officeDocument/2006/relationships/slide" Target="slides/slide8.xml"/>
  <Relationship Id="rId10" Type="http://schemas.openxmlformats.org/officeDocument/2006/relationships/slide" Target="slides/slide9.xml"/>
  <Relationship Id="rId11" Type="http://schemas.openxmlformats.org/officeDocument/2006/relationships/slide" Target="slides/slide10.xml"/>
  <Relationship Id="rId12" Type="http://schemas.openxmlformats.org/officeDocument/2006/relationships/notesMaster" Target="notesMasters/notesMaster1.xml"/>
  <Relationship Id="rId13" Type="http://schemas.openxmlformats.org/officeDocument/2006/relationships/presProps" Target="presProps.xml"/>
  <Relationship Id="rId14" Type="http://schemas.openxmlformats.org/officeDocument/2006/relationships/viewProps" Target="viewProps.xml"/>
  <Relationship Id="rId15" Type="http://schemas.openxmlformats.org/officeDocument/2006/relationships/theme" Target="theme/theme1.xml"/>
  <Relationship Id="rId16" Type="http://schemas.openxmlformats.org/officeDocument/2006/relationships/tableStyles" Target="tableStyles.xml"/>
</Relationships>

</file>

<file path=ppt/notesMasters/_rels/notesMaster1.xml.rels><?xml version="1.0" encoding="utf-8"?>
<Relationships xmlns="http://schemas.openxmlformats.org/package/2006/relationships">
  
		
  <Relationship Id="rId1" Type="http://schemas.openxmlformats.org/officeDocument/2006/relationships/theme" Target="../theme/theme1.xml"/>
  
		
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1.xml"/>
  
		
</Relationships>

</file>

<file path=ppt/notesSlides/_rels/notesSlide2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2.xml"/>
  
		
</Relationships>

</file>

<file path=ppt/notesSlides/_rels/notesSlide3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3.xml"/>
  
		
</Relationships>

</file>

<file path=ppt/notesSlides/_rels/notesSlide4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4.xml"/>
  
		
</Relationships>

</file>

<file path=ppt/notesSlides/_rels/notesSlide5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5.xml"/>
  
		
</Relationships>

</file>

<file path=ppt/notesSlides/_rels/notesSlide6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6.xml"/>
  
		
</Relationships>

</file>

<file path=ppt/notesSlides/_rels/notesSlide7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7.xml"/>
  
		
</Relationships>

</file>

<file path=ppt/notesSlides/_rels/notesSlide8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8.xml"/>
  
		
</Relationships>

</file>

<file path=ppt/notesSlides/_rels/notesSlide9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9.xml"/>
  
		
</Relationships>

</file>

<file path=ppt/notesSlides/_rels/notesSlide10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10.xml"/>
  
		
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
</file>

<file path=ppt/slides/_rels/slide2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
</file>

<file path=ppt/slides/_rels/slide3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
</file>

<file path=ppt/slides/_rels/slide4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
</file>

<file path=ppt/slides/_rels/slide5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
</file>

<file path=ppt/slides/_rels/slide6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.xml"/>
</Relationships>

</file>

<file path=ppt/slides/_rels/slide7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7.xml"/>
</Relationships>

</file>

<file path=ppt/slides/_rels/slide8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8.xml"/>
</Relationships>

</file>

<file path=ppt/slides/_rels/slide9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9.xml"/>
</Relationships>

</file>

<file path=ppt/slides/_rels/slide10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0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40080"/>
            <a:ext cx="5303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Functions</a:t>
            </a:r>
            <a:endParaRPr lang="en-US" sz="4800" dirty="0"/>
          </a:p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Base SAS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11480" y="265176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SAS Git functions for real-world</a:t>
            </a:r>
            <a:endParaRPr lang="en-US" sz="1600" dirty="0"/>
          </a:p>
          <a:p>
            <a:pPr algn="l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and advanced workflows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11480" y="3657600"/>
            <a:ext cx="54864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657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Workflow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87705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· stage · commit · push · pull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4297680"/>
            <a:ext cx="54864" cy="457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2976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Workflow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451713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· stash · rebase · resolve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852160" y="365760"/>
            <a:ext cx="3063240" cy="4572000"/>
          </a:xfrm>
          <a:prstGeom prst="rect">
            <a:avLst/>
          </a:prstGeom>
          <a:solidFill>
            <a:srgbClr val="1A2347"/>
          </a:solidFill>
          <a:ln w="12700">
            <a:solidFill>
              <a:srgbClr val="2A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89320" y="47548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Reference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89320" y="822960"/>
            <a:ext cx="54864" cy="1828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82296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git_clone()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882128" y="822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a remote repo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989320" y="1101852"/>
            <a:ext cx="54864" cy="1828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110185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git_init_repo()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882128" y="11018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 a local repo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989320" y="1380744"/>
            <a:ext cx="54864" cy="1828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138074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git_status()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882128" y="138074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repo status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989320" y="1659636"/>
            <a:ext cx="54864" cy="1828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0" y="165963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git_index_add()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882128" y="165963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a file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989320" y="1938528"/>
            <a:ext cx="54864" cy="1828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6480" y="193852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git_commit()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882128" y="193852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staged files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989320" y="2217420"/>
            <a:ext cx="54864" cy="1828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26480" y="221742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git_commit_log()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7882128" y="22174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commits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989320" y="2496312"/>
            <a:ext cx="54864" cy="1828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26480" y="249631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git_commit_get()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882128" y="249631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commit attributes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989320" y="2775204"/>
            <a:ext cx="54864" cy="1828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26480" y="277520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git_push()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7882128" y="277520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remote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989320" y="3054096"/>
            <a:ext cx="54864" cy="1828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26480" y="305409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git_pull()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7882128" y="305409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from remote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989320" y="3332988"/>
            <a:ext cx="54864" cy="1828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26480" y="333298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git_branch_new()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7882128" y="33329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branch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989320" y="3611880"/>
            <a:ext cx="54864" cy="1828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26480" y="361188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git_branch_chkout()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7882128" y="36118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branch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989320" y="3890772"/>
            <a:ext cx="54864" cy="1828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126480" y="389077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git_stash()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7882128" y="38907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Stash uncommitted work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5989320" y="4169664"/>
            <a:ext cx="54864" cy="1828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126480" y="416966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git_stash_pop()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7882128" y="416966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stash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5989320" y="4448556"/>
            <a:ext cx="54864" cy="1828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126480" y="444855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git_rebase()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7882128" y="444855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Rebase branch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5989320" y="4727448"/>
            <a:ext cx="54864" cy="1828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126480" y="472744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git_rebase_op()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7882128" y="472744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rebase ops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411480" y="484632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github.com/paulvanmol/usinggitinbasesas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Repository Structure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84124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Reorganise your flat file list into two clearly named folders so learners know exactly where to start.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3931920" cy="3520440"/>
          </a:xfrm>
          <a:prstGeom prst="rect">
            <a:avLst/>
          </a:prstGeom>
          <a:solidFill>
            <a:srgbClr val="1A2347"/>
          </a:solidFill>
          <a:ln w="12700">
            <a:solidFill>
              <a:srgbClr val="2A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26187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— flat root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57276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git_clone_example.sas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81965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git_init_repo.sas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06654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git_stage_commit_example.sas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231343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git_push_example.sas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25603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git_pull_example.sas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280720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git_branch_new.sas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305409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git_branch_chkout_example.sas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330098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git_stash_example.sas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354787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git_rebase_example_studio.sas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37947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git_audit_trail_example.sas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404164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git_stage_commit_macro.sas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428853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git_stage_commit_recursive_macro.sas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279392" y="2743200"/>
            <a:ext cx="548640" cy="36576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79392" y="2606040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4892040" y="1188720"/>
            <a:ext cx="3977640" cy="3520440"/>
          </a:xfrm>
          <a:prstGeom prst="rect">
            <a:avLst/>
          </a:prstGeom>
          <a:solidFill>
            <a:srgbClr val="1A2347"/>
          </a:solidFill>
          <a:ln w="12700">
            <a:solidFill>
              <a:srgbClr val="2A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074920" y="126187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2A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— two folders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74920" y="1572768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basic/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074920" y="1810512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📄 01_init_repo.sas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074920" y="2048256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📄 02_clone.sas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74920" y="2286000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📄 03_stage_commit.sas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074920" y="2523744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📄 04_push.sas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074920" y="2761488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📄 05_pull.sas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074920" y="2999232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📄 06_audit_trail.sas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074920" y="3236976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📄 07_stage_commit_macro.sas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074920" y="3474720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advanced/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074920" y="3712464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📄 01_branch_new.sas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074920" y="3950208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📄 02_branch_checkout.sas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074920" y="4187952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📄 03_stash.sas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074920" y="4425696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📄 04_rebase.sas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74320" y="4773168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Numbered prefixes enforce the learning order. README in each folder explains prerequisites.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Workflow — end-to-end in SAS code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1325880" cy="2011680"/>
          </a:xfrm>
          <a:prstGeom prst="rect">
            <a:avLst/>
          </a:prstGeom>
          <a:solidFill>
            <a:srgbClr val="1A2347"/>
          </a:solidFill>
          <a:ln w="12700">
            <a:solidFill>
              <a:srgbClr val="2A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60120"/>
            <a:ext cx="132588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0664" y="1051560"/>
            <a:ext cx="292608" cy="29260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051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83464" y="1417320"/>
            <a:ext cx="1216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git_init_repo()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83464" y="1691640"/>
            <a:ext cx="1216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Initialise / Clone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01752" y="1984248"/>
            <a:ext cx="117957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a local repo from scratch or clone from GitHub. Use git_clone() for an existing remote.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554480" y="1943100"/>
            <a:ext cx="4572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00200" y="960120"/>
            <a:ext cx="1325880" cy="2011680"/>
          </a:xfrm>
          <a:prstGeom prst="rect">
            <a:avLst/>
          </a:prstGeom>
          <a:solidFill>
            <a:srgbClr val="1A2347"/>
          </a:solidFill>
          <a:ln w="12700">
            <a:solidFill>
              <a:srgbClr val="2A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600200" y="960120"/>
            <a:ext cx="132588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12264" y="1051560"/>
            <a:ext cx="292608" cy="29260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12264" y="1051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655064" y="1417320"/>
            <a:ext cx="1216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git_status()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655064" y="1691640"/>
            <a:ext cx="1216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status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673352" y="1984248"/>
            <a:ext cx="117957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number of changed files. Call git_status_free() between calls to release memory.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926080" y="1943100"/>
            <a:ext cx="4572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971800" y="960120"/>
            <a:ext cx="1325880" cy="2011680"/>
          </a:xfrm>
          <a:prstGeom prst="rect">
            <a:avLst/>
          </a:prstGeom>
          <a:solidFill>
            <a:srgbClr val="1A2347"/>
          </a:solidFill>
          <a:ln w="12700">
            <a:solidFill>
              <a:srgbClr val="2A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971800" y="960120"/>
            <a:ext cx="132588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83864" y="1051560"/>
            <a:ext cx="292608" cy="29260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83864" y="1051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026664" y="1417320"/>
            <a:ext cx="1216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git_index_add()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026664" y="1691640"/>
            <a:ext cx="1216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files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044952" y="1984248"/>
            <a:ext cx="117957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each changed file to the index. Use git_index_add() per file with correct status: "New", "Modified", or "Deleted".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297680" y="1943100"/>
            <a:ext cx="4572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43400" y="960120"/>
            <a:ext cx="1325880" cy="2011680"/>
          </a:xfrm>
          <a:prstGeom prst="rect">
            <a:avLst/>
          </a:prstGeom>
          <a:solidFill>
            <a:srgbClr val="1A2347"/>
          </a:solidFill>
          <a:ln w="12700">
            <a:solidFill>
              <a:srgbClr val="2A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343400" y="960120"/>
            <a:ext cx="132588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55464" y="1051560"/>
            <a:ext cx="292608" cy="29260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55464" y="1051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398264" y="1417320"/>
            <a:ext cx="1216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git_commit()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398264" y="1691640"/>
            <a:ext cx="1216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416552" y="1984248"/>
            <a:ext cx="117957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repo path, "HEAD", author name, email, and message. Returns 0 on success.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669280" y="1943100"/>
            <a:ext cx="4572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715000" y="960120"/>
            <a:ext cx="1325880" cy="2011680"/>
          </a:xfrm>
          <a:prstGeom prst="rect">
            <a:avLst/>
          </a:prstGeom>
          <a:solidFill>
            <a:srgbClr val="1A2347"/>
          </a:solidFill>
          <a:ln w="12700">
            <a:solidFill>
              <a:srgbClr val="2A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715000" y="960120"/>
            <a:ext cx="132588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27064" y="1051560"/>
            <a:ext cx="292608" cy="29260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27064" y="1051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769864" y="1417320"/>
            <a:ext cx="1216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git_push()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769864" y="1691640"/>
            <a:ext cx="1216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remote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788152" y="1984248"/>
            <a:ext cx="117957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repo path, GitHub username, and PAT. Store PAT in a macro variable with nosymbolgen.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7040880" y="1943100"/>
            <a:ext cx="4572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086600" y="960120"/>
            <a:ext cx="1325880" cy="2011680"/>
          </a:xfrm>
          <a:prstGeom prst="rect">
            <a:avLst/>
          </a:prstGeom>
          <a:solidFill>
            <a:srgbClr val="1A2347"/>
          </a:solidFill>
          <a:ln w="12700">
            <a:solidFill>
              <a:srgbClr val="2A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7086600" y="960120"/>
            <a:ext cx="132588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598664" y="1051560"/>
            <a:ext cx="292608" cy="29260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598664" y="1051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7141464" y="1417320"/>
            <a:ext cx="1216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git_pull()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7141464" y="1691640"/>
            <a:ext cx="1216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from remote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7159752" y="1984248"/>
            <a:ext cx="117957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latest commits from the remote into your local repo before starting new work.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0" y="3063240"/>
            <a:ext cx="9144000" cy="2080260"/>
          </a:xfrm>
          <a:prstGeom prst="rect">
            <a:avLst/>
          </a:prstGeom>
          <a:solidFill>
            <a:srgbClr val="1A2347"/>
          </a:solidFill>
          <a:ln w="12700">
            <a:solidFill>
              <a:srgbClr val="1A2347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0" y="3063240"/>
            <a:ext cx="54864" cy="20802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01168" y="312724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pattern from your examples — stage each file individually then commit once: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201168" y="3429000"/>
            <a:ext cx="5943600" cy="1554480"/>
          </a:xfrm>
          <a:prstGeom prst="rect">
            <a:avLst/>
          </a:prstGeom>
          <a:solidFill>
            <a:srgbClr val="0A0F1E"/>
          </a:solidFill>
          <a:ln w="12700">
            <a:solidFill>
              <a:srgbClr val="2A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201168" y="3429000"/>
            <a:ext cx="5943600" cy="237744"/>
          </a:xfrm>
          <a:prstGeom prst="rect">
            <a:avLst/>
          </a:prstGeom>
          <a:solidFill>
            <a:srgbClr val="161B2E"/>
          </a:solidFill>
          <a:ln w="12700">
            <a:solidFill>
              <a:srgbClr val="2A356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10896" y="3447288"/>
            <a:ext cx="5724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03_stage_commit.sas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329184" y="3758184"/>
            <a:ext cx="568756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_null_;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rc = git_index_add("&amp;repopath", "myreport.sas", "New");  /* stage one file */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rc = git_index_add("&amp;repopath", "macros/helper.sas", "New");  /* stage another */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rc = git_status_free("&amp;repopath");   /* release status handle */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_null_;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rc = git_commit("&amp;repopath", "HEAD", "&amp;gituser", "&amp;gitemail", "Add report and helper macro");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put rc=;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run;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263640" y="3429000"/>
            <a:ext cx="2651760" cy="1554480"/>
          </a:xfrm>
          <a:prstGeom prst="rect">
            <a:avLst/>
          </a:prstGeom>
          <a:solidFill>
            <a:srgbClr val="0A0F1E"/>
          </a:solidFill>
          <a:ln w="12700">
            <a:solidFill>
              <a:srgbClr val="2A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6382512" y="352044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Docs tip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6382512" y="3767328"/>
            <a:ext cx="2423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git_index_add() 3rd arg: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"New" → new file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"Modified" → changed file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"Deleted" → removed file</a:t>
            </a:r>
            <a:endParaRPr lang="en-US" sz="900" dirty="0"/>
          </a:p>
          <a:p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git_status_get() to detect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file's status before staging.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History — git_commit_log() &amp; git_commit_get()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84124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these to build audit trails, find the latest commit ID before branching, or report who changed what.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3931920" cy="1143000"/>
          </a:xfrm>
          <a:prstGeom prst="rect">
            <a:avLst/>
          </a:prstGeom>
          <a:solidFill>
            <a:srgbClr val="1A2347"/>
          </a:solidFill>
          <a:ln w="12700">
            <a:solidFill>
              <a:srgbClr val="2A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88720"/>
            <a:ext cx="393192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298448"/>
            <a:ext cx="3712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git_commit_log(repo)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1618488"/>
            <a:ext cx="37124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count of all commits. Use this to know how many rows to iterate over.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2423160"/>
            <a:ext cx="3931920" cy="1143000"/>
          </a:xfrm>
          <a:prstGeom prst="rect">
            <a:avLst/>
          </a:prstGeom>
          <a:solidFill>
            <a:srgbClr val="1A2347"/>
          </a:solidFill>
          <a:ln w="12700">
            <a:solidFill>
              <a:srgbClr val="2A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423160"/>
            <a:ext cx="393192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2532888"/>
            <a:ext cx="3712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git_commit_get(n, repo, attr, out)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4048" y="2852928"/>
            <a:ext cx="37124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one attribute for commit n.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Attributes: "id", "message", "author", "email", "time", "in_current_branch"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3657600"/>
            <a:ext cx="3931920" cy="1143000"/>
          </a:xfrm>
          <a:prstGeom prst="rect">
            <a:avLst/>
          </a:prstGeom>
          <a:solidFill>
            <a:srgbClr val="1A2347"/>
          </a:solidFill>
          <a:ln w="12700">
            <a:solidFill>
              <a:srgbClr val="2A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657600"/>
            <a:ext cx="393192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3767328"/>
            <a:ext cx="3712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"in_current_branch" attribute (docs)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84048" y="4087368"/>
            <a:ext cx="37124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"TRUE" or "FALSE". Filter on this to get only the commits for the active branch — critical for branching workflows.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343400" y="1188720"/>
            <a:ext cx="4526280" cy="3611880"/>
          </a:xfrm>
          <a:prstGeom prst="rect">
            <a:avLst/>
          </a:prstGeom>
          <a:solidFill>
            <a:srgbClr val="0A0F1E"/>
          </a:solidFill>
          <a:ln w="12700">
            <a:solidFill>
              <a:srgbClr val="2A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343400" y="1188720"/>
            <a:ext cx="4526280" cy="237744"/>
          </a:xfrm>
          <a:prstGeom prst="rect">
            <a:avLst/>
          </a:prstGeom>
          <a:solidFill>
            <a:srgbClr val="161B2E"/>
          </a:solidFill>
          <a:ln w="12700">
            <a:solidFill>
              <a:srgbClr val="2A35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53128" y="1207008"/>
            <a:ext cx="4306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06_audit_trail.sas (updated)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471416" y="1517904"/>
            <a:ext cx="4270248" cy="3209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Get count of commits */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_null_;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 = git_commit_log("&amp;repopath");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put n=;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run;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Loop all commits → dataset */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commit_history;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length id $1024 author $256 msg $1024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in_branch $6 time $17;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 = git_commit_log("&amp;repopath");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 i = 1 to n;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rc = git_commit_get(i,"&amp;repopath","id",    id);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rc = git_commit_get(i,"&amp;repopath","author",author);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rc = git_commit_get(i,"&amp;repopath","message",msg);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rc = git_commit_get(i,"&amp;repopath","time",  time);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rc = git_commit_get(i,"&amp;repopath",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"in_current_branch",   in_branch);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output;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end;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run;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Save most recent commit id for branching */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_null_;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set commit_history(obs=1);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call symputx('latest_id', id);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run;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74320" y="478231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Your original audit trail example iterated commits but didn't filter by in_current_branch — adding that makes it branch-aware.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Tool — git_stage_commit_recursive_macro.sas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84124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walks directories and stages all *.sas files — great for bulk commits after a refactor.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3931920" cy="1005840"/>
          </a:xfrm>
          <a:prstGeom prst="rect">
            <a:avLst/>
          </a:prstGeom>
          <a:solidFill>
            <a:srgbClr val="1A2347"/>
          </a:solidFill>
          <a:ln w="12700">
            <a:solidFill>
              <a:srgbClr val="2A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88720"/>
            <a:ext cx="393192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2984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1298448"/>
            <a:ext cx="3364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4048" y="1645920"/>
            <a:ext cx="3712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FINFO/DOPEN to walk subdirectories recursively and calls git_index_add() on each .sas file found.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2286000"/>
            <a:ext cx="3931920" cy="914400"/>
          </a:xfrm>
          <a:prstGeom prst="rect">
            <a:avLst/>
          </a:prstGeom>
          <a:solidFill>
            <a:srgbClr val="1A2347"/>
          </a:solidFill>
          <a:ln w="12700">
            <a:solidFill>
              <a:srgbClr val="2A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286000"/>
            <a:ext cx="393192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23957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2395728"/>
            <a:ext cx="3364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it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4048" y="2743200"/>
            <a:ext cx="3712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migrating or reorganising a whole project folder. One call instead of dozens of git_index_add() calls.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3291840"/>
            <a:ext cx="3931920" cy="1005840"/>
          </a:xfrm>
          <a:prstGeom prst="rect">
            <a:avLst/>
          </a:prstGeom>
          <a:solidFill>
            <a:srgbClr val="1A2347"/>
          </a:solidFill>
          <a:ln w="12700">
            <a:solidFill>
              <a:srgbClr val="2A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291840"/>
            <a:ext cx="393192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34015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📖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31520" y="3401568"/>
            <a:ext cx="3364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enhancement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4048" y="3749040"/>
            <a:ext cx="3712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git_index_add() accepts "New", "Modified", or "Deleted" as status. Add logic to detect the file status before staging.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343400" y="1188720"/>
            <a:ext cx="4526280" cy="2560320"/>
          </a:xfrm>
          <a:prstGeom prst="rect">
            <a:avLst/>
          </a:prstGeom>
          <a:solidFill>
            <a:srgbClr val="0A0F1E"/>
          </a:solidFill>
          <a:ln w="12700">
            <a:solidFill>
              <a:srgbClr val="2A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343400" y="1188720"/>
            <a:ext cx="4526280" cy="237744"/>
          </a:xfrm>
          <a:prstGeom prst="rect">
            <a:avLst/>
          </a:prstGeom>
          <a:solidFill>
            <a:srgbClr val="161B2E"/>
          </a:solidFill>
          <a:ln w="12700">
            <a:solidFill>
              <a:srgbClr val="2A35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53128" y="1207008"/>
            <a:ext cx="4306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07_stage_commit_macro.sas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471416" y="1517904"/>
            <a:ext cx="4270248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Usage: point at repo and folder */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%let repopath = /home/sasdemo/myproject;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%let scanpath = &amp;repopath./src;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%stage_recursive(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repo    = &amp;repopath,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folder  = &amp;scanpath,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pattern = *.sas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Then commit everything in one shot */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_null_;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rc = git_commit(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"&amp;repopath",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"HEAD",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"&amp;gituser",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"&amp;gitemail",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"Bulk stage all SAS files after refactor"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put rc=;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run;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343400" y="3840480"/>
            <a:ext cx="4526280" cy="1051560"/>
          </a:xfrm>
          <a:prstGeom prst="rect">
            <a:avLst/>
          </a:prstGeom>
          <a:solidFill>
            <a:srgbClr val="0A0F1E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80560" y="3913632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Improvement from docs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480560" y="4187952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macro hardcodes "New". The docs show that git_index_add() accepts "Modified" and "Deleted" too — update the macro to call git_status() first and choose the correct status per file.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— Branching with git_branch_new() &amp; git_branch_chkout()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84124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 let teammates work in parallel without touching each other's code. Here's the full SAS workflow.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1188720"/>
            <a:ext cx="1325880" cy="1600200"/>
          </a:xfrm>
          <a:prstGeom prst="rect">
            <a:avLst/>
          </a:prstGeom>
          <a:solidFill>
            <a:srgbClr val="1A2347"/>
          </a:solidFill>
          <a:ln w="12700">
            <a:solidFill>
              <a:srgbClr val="2A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188720"/>
            <a:ext cx="132588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0664" y="1280160"/>
            <a:ext cx="292608" cy="29260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0664" y="1280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83464" y="1627632"/>
            <a:ext cx="1216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latest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ID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83464" y="2011680"/>
            <a:ext cx="12161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git_commit_log()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git_commit_get()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&amp;latest_id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554480" y="1965960"/>
            <a:ext cx="4572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00200" y="1188720"/>
            <a:ext cx="1325880" cy="1600200"/>
          </a:xfrm>
          <a:prstGeom prst="rect">
            <a:avLst/>
          </a:prstGeom>
          <a:solidFill>
            <a:srgbClr val="1A2347"/>
          </a:solidFill>
          <a:ln w="12700">
            <a:solidFill>
              <a:srgbClr val="2A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600200" y="1188720"/>
            <a:ext cx="132588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12264" y="1280160"/>
            <a:ext cx="292608" cy="29260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12264" y="1280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655064" y="1627632"/>
            <a:ext cx="1216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655064" y="2011680"/>
            <a:ext cx="12161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git_branch_new()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commit id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overwrite=1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926080" y="1965960"/>
            <a:ext cx="4572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71800" y="1188720"/>
            <a:ext cx="1325880" cy="1600200"/>
          </a:xfrm>
          <a:prstGeom prst="rect">
            <a:avLst/>
          </a:prstGeom>
          <a:solidFill>
            <a:srgbClr val="1A2347"/>
          </a:solidFill>
          <a:ln w="12700">
            <a:solidFill>
              <a:srgbClr val="2A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971800" y="1188720"/>
            <a:ext cx="132588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83864" y="1280160"/>
            <a:ext cx="292608" cy="29260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83864" y="1280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026664" y="1627632"/>
            <a:ext cx="1216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branch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026664" y="2011680"/>
            <a:ext cx="12161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git_branch_chkout()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'feature/...'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297680" y="1965960"/>
            <a:ext cx="4572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43400" y="1188720"/>
            <a:ext cx="1325880" cy="1600200"/>
          </a:xfrm>
          <a:prstGeom prst="rect">
            <a:avLst/>
          </a:prstGeom>
          <a:solidFill>
            <a:srgbClr val="1A2347"/>
          </a:solidFill>
          <a:ln w="12700">
            <a:solidFill>
              <a:srgbClr val="2A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343400" y="1188720"/>
            <a:ext cx="132588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55464" y="1280160"/>
            <a:ext cx="292608" cy="29260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55464" y="1280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398264" y="1627632"/>
            <a:ext cx="1216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+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stage+commit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398264" y="2011680"/>
            <a:ext cx="12161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Edit files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git_index_add()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git_commit()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669280" y="1965960"/>
            <a:ext cx="4572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15000" y="1188720"/>
            <a:ext cx="1325880" cy="1600200"/>
          </a:xfrm>
          <a:prstGeom prst="rect">
            <a:avLst/>
          </a:prstGeom>
          <a:solidFill>
            <a:srgbClr val="1A2347"/>
          </a:solidFill>
          <a:ln w="12700">
            <a:solidFill>
              <a:srgbClr val="2A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715000" y="1188720"/>
            <a:ext cx="132588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27064" y="1280160"/>
            <a:ext cx="292608" cy="29260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27064" y="1280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769864" y="1627632"/>
            <a:ext cx="1216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to main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769864" y="2011680"/>
            <a:ext cx="12161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git_branch_chkout()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'main'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7040880" y="1965960"/>
            <a:ext cx="4572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086600" y="1188720"/>
            <a:ext cx="1325880" cy="1600200"/>
          </a:xfrm>
          <a:prstGeom prst="rect">
            <a:avLst/>
          </a:prstGeom>
          <a:solidFill>
            <a:srgbClr val="1A2347"/>
          </a:solidFill>
          <a:ln w="12700">
            <a:solidFill>
              <a:srgbClr val="2A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086600" y="1188720"/>
            <a:ext cx="132588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598664" y="1280160"/>
            <a:ext cx="292608" cy="29260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598664" y="1280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141464" y="1627632"/>
            <a:ext cx="1216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Rebase /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141464" y="2011680"/>
            <a:ext cx="12161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git_rebase()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 PR in GitHub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228600" y="2880360"/>
            <a:ext cx="4617720" cy="2103120"/>
          </a:xfrm>
          <a:prstGeom prst="rect">
            <a:avLst/>
          </a:prstGeom>
          <a:solidFill>
            <a:srgbClr val="0A0F1E"/>
          </a:solidFill>
          <a:ln w="12700">
            <a:solidFill>
              <a:srgbClr val="2A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228600" y="2880360"/>
            <a:ext cx="4617720" cy="237744"/>
          </a:xfrm>
          <a:prstGeom prst="rect">
            <a:avLst/>
          </a:prstGeom>
          <a:solidFill>
            <a:srgbClr val="161B2E"/>
          </a:solidFill>
          <a:ln w="12700">
            <a:solidFill>
              <a:srgbClr val="2A356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38328" y="2898648"/>
            <a:ext cx="4398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advanced/01_branch_new.sas (updated)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56616" y="3209544"/>
            <a:ext cx="4361688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1. Get latest commit on main */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_null_;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 = git_commit_log("&amp;repopath");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length id $1024;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rc = git_commit_get(1, "&amp;repopath", "id", id);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call symputx('latest_id', id);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run;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2. Create feature branch FROM that commit */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_null_;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rc = git_branch_new(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"&amp;repopath",        /* repo path           */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"&amp;latest_id",       /* base commit         */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"feature/my_task",  /* branch name         */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1);                 /* overwrite if exists */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put rc=;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run;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3. Switch to the new branch */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_null_;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rc = git_branch_chkout("&amp;repopath", "feature/my_task");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put rc=;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run;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983480" y="2880360"/>
            <a:ext cx="3886200" cy="2103120"/>
          </a:xfrm>
          <a:prstGeom prst="rect">
            <a:avLst/>
          </a:prstGeom>
          <a:solidFill>
            <a:srgbClr val="0A0F1E"/>
          </a:solidFill>
          <a:ln w="12700">
            <a:solidFill>
              <a:srgbClr val="2A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5102352" y="29443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What changed from your original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102352" y="3291840"/>
            <a:ext cx="182880" cy="1828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321808" y="324612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git_branch_new.sas used n (the count) as the commit ID — that's wrong. n is the number of commits, not a commit hash.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102352" y="3694176"/>
            <a:ext cx="182880" cy="1828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321808" y="3648456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git_commit_get(1, ...) at position 1 gives the most recent commit — that's the correct base for a new branch.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102352" y="4096512"/>
            <a:ext cx="182880" cy="1828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321808" y="4050792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docs clarify that the 2nd arg to git_branch_new() must be a full SHA commit ID string, not an integer.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5102352" y="4498848"/>
            <a:ext cx="182880" cy="1828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321808" y="445312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git_branch_chkout_example.sas was already correct — just hardcoded to "main".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— Stash: park work and come back later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84124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Stash temporarily shelves uncommitted changes so you can switch branches with a clean working directory.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3749040" cy="1078992"/>
          </a:xfrm>
          <a:prstGeom prst="rect">
            <a:avLst/>
          </a:prstGeom>
          <a:solidFill>
            <a:srgbClr val="1A2347"/>
          </a:solidFill>
          <a:ln w="12700">
            <a:solidFill>
              <a:srgbClr val="2A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88720"/>
            <a:ext cx="374904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2984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🔥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1298448"/>
            <a:ext cx="3182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urgent fix needed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4048" y="1645920"/>
            <a:ext cx="35295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mid-way through feature work. A colleague needs a hotfix on main. Stash → fix → pop.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2377440"/>
            <a:ext cx="3749040" cy="1078992"/>
          </a:xfrm>
          <a:prstGeom prst="rect">
            <a:avLst/>
          </a:prstGeom>
          <a:solidFill>
            <a:srgbClr val="1A2347"/>
          </a:solidFill>
          <a:ln w="12700">
            <a:solidFill>
              <a:srgbClr val="2A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377440"/>
            <a:ext cx="374904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24871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🔀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2487168"/>
            <a:ext cx="3182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branch safely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4048" y="2834640"/>
            <a:ext cx="35295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git_branch_chkout() can fail if there are uncommitted changes. Stash first to get a clean state.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3611880"/>
            <a:ext cx="3749040" cy="1280160"/>
          </a:xfrm>
          <a:prstGeom prst="rect">
            <a:avLst/>
          </a:prstGeom>
          <a:solidFill>
            <a:srgbClr val="1A2347"/>
          </a:solidFill>
          <a:ln w="12700">
            <a:solidFill>
              <a:srgbClr val="2A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11480" y="367588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stash functions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1480" y="39776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git_stash()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67712" y="3977640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uncommitted work onto the stash stack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11480" y="419709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git_stash_pop()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267712" y="4197096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top stash AND remove it from stack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11480" y="44165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git_stash_apply()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267712" y="4416552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top stash but KEEP it on the stack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11480" y="46360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git_stash_drop()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267712" y="4636008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top stash entry without restoring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206240" y="1188720"/>
            <a:ext cx="4663440" cy="3703320"/>
          </a:xfrm>
          <a:prstGeom prst="rect">
            <a:avLst/>
          </a:prstGeom>
          <a:solidFill>
            <a:srgbClr val="0A0F1E"/>
          </a:solidFill>
          <a:ln w="12700">
            <a:solidFill>
              <a:srgbClr val="2A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206240" y="1188720"/>
            <a:ext cx="4663440" cy="237744"/>
          </a:xfrm>
          <a:prstGeom prst="rect">
            <a:avLst/>
          </a:prstGeom>
          <a:solidFill>
            <a:srgbClr val="161B2E"/>
          </a:solidFill>
          <a:ln w="12700">
            <a:solidFill>
              <a:srgbClr val="2A35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15968" y="1207008"/>
            <a:ext cx="4443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advanced/03_stash.sas (updated)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334256" y="1517904"/>
            <a:ext cx="4407408" cy="3300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STASH: save current in-progress work */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_null_;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rc = git_stash(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"&amp;repopath",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"&amp;gituser",     /* author name  */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"&amp;gitemail");   /* author email */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put rc=;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run;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=== do your urgent work on main === */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... stage, commit, push ... */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RESTORE: bring back your feature work */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_null_;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rc = git_stash_pop("&amp;repopath");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put rc=;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run;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Alternative: apply keeps stash intact */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data _null_;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rc = git_stash_apply("&amp;repopath");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run; */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Drop a stash you no longer need */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data _null_;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rc = git_stash_drop("&amp;repopath");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run; */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— Rebase: replay your branch onto main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84124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Rebase moves your feature branch commits on top of the latest main, giving a clean linear history without a merge commit.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70432"/>
            <a:ext cx="3840480" cy="822960"/>
          </a:xfrm>
          <a:prstGeom prst="rect">
            <a:avLst/>
          </a:prstGeom>
          <a:solidFill>
            <a:srgbClr val="1A2347"/>
          </a:solidFill>
          <a:ln w="12700">
            <a:solidFill>
              <a:srgbClr val="2A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70432"/>
            <a:ext cx="384048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280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📐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1280160"/>
            <a:ext cx="3273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rebase instead of merge?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4048" y="1627632"/>
            <a:ext cx="3621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a linear commit history — easier to read and bisect. Standard in feature-branch workflows before pushing.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2084832"/>
            <a:ext cx="3840480" cy="822960"/>
          </a:xfrm>
          <a:prstGeom prst="rect">
            <a:avLst/>
          </a:prstGeom>
          <a:solidFill>
            <a:srgbClr val="1A2347"/>
          </a:solidFill>
          <a:ln w="12700">
            <a:solidFill>
              <a:srgbClr val="2A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084832"/>
            <a:ext cx="384048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2194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⚠️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2194560"/>
            <a:ext cx="3273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git_rebase_op() — conflict handling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4048" y="2542032"/>
            <a:ext cx="3621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"CONTINUE" after resolving, "SKIP" to skip a patch, "ABORT" to cancel the rebase entirely.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2999232"/>
            <a:ext cx="3840480" cy="914400"/>
          </a:xfrm>
          <a:prstGeom prst="rect">
            <a:avLst/>
          </a:prstGeom>
          <a:solidFill>
            <a:srgbClr val="1A2347"/>
          </a:solidFill>
          <a:ln w="12700">
            <a:solidFill>
              <a:srgbClr val="2A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999232"/>
            <a:ext cx="3840480" cy="54864"/>
          </a:xfrm>
          <a:prstGeom prst="rect">
            <a:avLst/>
          </a:prstGeom>
          <a:solidFill>
            <a:srgbClr val="02A675"/>
          </a:solidFill>
          <a:ln w="12700">
            <a:solidFill>
              <a:srgbClr val="02A67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31089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31520" y="3108960"/>
            <a:ext cx="3273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your code got right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4048" y="3456432"/>
            <a:ext cx="3621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out each branch to capture its HEAD commit ID before calling git_rebase() — that's correct. Docs confirm you need both commit SHAs.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297680" y="1170432"/>
            <a:ext cx="4572000" cy="3703320"/>
          </a:xfrm>
          <a:prstGeom prst="rect">
            <a:avLst/>
          </a:prstGeom>
          <a:solidFill>
            <a:srgbClr val="0A0F1E"/>
          </a:solidFill>
          <a:ln w="12700">
            <a:solidFill>
              <a:srgbClr val="2A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297680" y="1170432"/>
            <a:ext cx="4572000" cy="237744"/>
          </a:xfrm>
          <a:prstGeom prst="rect">
            <a:avLst/>
          </a:prstGeom>
          <a:solidFill>
            <a:srgbClr val="161B2E"/>
          </a:solidFill>
          <a:ln w="12700">
            <a:solidFill>
              <a:srgbClr val="2A35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07408" y="1188720"/>
            <a:ext cx="4352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advanced/04_rebase.sas (updated)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425696" y="1499616"/>
            <a:ext cx="4315968" cy="3300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Step 1: get upstream (main) commit id */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_null_;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rc = git_branch_chkout("&amp;repopath","main");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length id $1024;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  = git_commit_log("&amp;repopath");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rc = git_commit_get(1,"&amp;repopath","id",id);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call symputx('upstream_id', id);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run;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Step 2: switch back to feature branch */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_null_;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rc = git_branch_chkout("&amp;repopath","feature/my_task");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length id $1024;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  = git_commit_log("&amp;repopath");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rc = git_commit_get(1,"&amp;repopath","id",id);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call symputx('current_id', id);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run;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Step 3: rebase feature onto main */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_null_;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rc = GIT_REBASE(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"&amp;repopath",      /* repo            */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"&amp;current_id",    /* your branch tip */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"&amp;upstream_id",   /* rebase onto     */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"&amp;gituser",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"&amp;gitemail");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put rc=;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/* rc=0 success | rc&lt;&gt;0 = conflicts */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run;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Step 4: if conflicts → ABORT or CONTINUE */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_null_;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rc = git_rebase_op(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"&amp;repopath", "ABORT",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"feature/my_task",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"&amp;gituser", "&amp;gitemail");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run;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74320" y="398678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After a successful rebase, push the feature branch to GitHub and open a Pull Request.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Docs Added — upgrading your examples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4160520" cy="1261872"/>
          </a:xfrm>
          <a:prstGeom prst="rect">
            <a:avLst/>
          </a:prstGeom>
          <a:solidFill>
            <a:srgbClr val="1A2347"/>
          </a:solidFill>
          <a:ln w="12700">
            <a:solidFill>
              <a:srgbClr val="2A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14400"/>
            <a:ext cx="416052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" y="1005840"/>
            <a:ext cx="3941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git_stage_commit_example.sas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38328" y="1234440"/>
            <a:ext cx="329184" cy="182880"/>
          </a:xfrm>
          <a:prstGeom prst="rect">
            <a:avLst/>
          </a:prstGeom>
          <a:solidFill>
            <a:srgbClr val="4A0000"/>
          </a:solidFill>
          <a:ln w="12700">
            <a:solidFill>
              <a:srgbClr val="4A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" y="1234440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704088" y="1234440"/>
            <a:ext cx="3575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git_index_add() always called with "New"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38328" y="1481328"/>
            <a:ext cx="329184" cy="182880"/>
          </a:xfrm>
          <a:prstGeom prst="rect">
            <a:avLst/>
          </a:prstGeom>
          <a:solidFill>
            <a:srgbClr val="004A1E"/>
          </a:solidFill>
          <a:ln w="12700">
            <a:solidFill>
              <a:srgbClr val="004A1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" y="148132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2A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704088" y="1481328"/>
            <a:ext cx="3575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"New" | "Modified" | "Deleted" based on actual file state. Use git_status() to detect.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28600" y="2286000"/>
            <a:ext cx="4160520" cy="1261872"/>
          </a:xfrm>
          <a:prstGeom prst="rect">
            <a:avLst/>
          </a:prstGeom>
          <a:solidFill>
            <a:srgbClr val="1A2347"/>
          </a:solidFill>
          <a:ln w="12700">
            <a:solidFill>
              <a:srgbClr val="2A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28600" y="2286000"/>
            <a:ext cx="416052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" y="2377440"/>
            <a:ext cx="3941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git_branch_new.sas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38328" y="2606040"/>
            <a:ext cx="329184" cy="182880"/>
          </a:xfrm>
          <a:prstGeom prst="rect">
            <a:avLst/>
          </a:prstGeom>
          <a:solidFill>
            <a:srgbClr val="4A0000"/>
          </a:solidFill>
          <a:ln w="12700">
            <a:solidFill>
              <a:srgbClr val="4A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" y="2606040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704088" y="2606040"/>
            <a:ext cx="3575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 n (commit count integer) as commit ID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38328" y="2852928"/>
            <a:ext cx="329184" cy="182880"/>
          </a:xfrm>
          <a:prstGeom prst="rect">
            <a:avLst/>
          </a:prstGeom>
          <a:solidFill>
            <a:srgbClr val="004A1E"/>
          </a:solidFill>
          <a:ln w="12700">
            <a:solidFill>
              <a:srgbClr val="004A1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" y="285292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2A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704088" y="2852928"/>
            <a:ext cx="3575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pass the SHA string from git_commit_get(). n is just the count, not an ID.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28600" y="3657600"/>
            <a:ext cx="4160520" cy="1261872"/>
          </a:xfrm>
          <a:prstGeom prst="rect">
            <a:avLst/>
          </a:prstGeom>
          <a:solidFill>
            <a:srgbClr val="1A2347"/>
          </a:solidFill>
          <a:ln w="12700">
            <a:solidFill>
              <a:srgbClr val="2A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28600" y="3657600"/>
            <a:ext cx="416052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8328" y="3749040"/>
            <a:ext cx="3941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git_audit_trail_example.sas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38328" y="3977640"/>
            <a:ext cx="329184" cy="182880"/>
          </a:xfrm>
          <a:prstGeom prst="rect">
            <a:avLst/>
          </a:prstGeom>
          <a:solidFill>
            <a:srgbClr val="4A0000"/>
          </a:solidFill>
          <a:ln w="12700">
            <a:solidFill>
              <a:srgbClr val="4A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328" y="3977640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704088" y="3977640"/>
            <a:ext cx="3575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Looped all commits without branch filtering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38328" y="4224528"/>
            <a:ext cx="329184" cy="182880"/>
          </a:xfrm>
          <a:prstGeom prst="rect">
            <a:avLst/>
          </a:prstGeom>
          <a:solidFill>
            <a:srgbClr val="004A1E"/>
          </a:solidFill>
          <a:ln w="12700">
            <a:solidFill>
              <a:srgbClr val="004A1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8328" y="422452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2A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704088" y="4224528"/>
            <a:ext cx="3575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on in_current_branch="TRUE" to scope to the active branch.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480560" y="914400"/>
            <a:ext cx="4160520" cy="1261872"/>
          </a:xfrm>
          <a:prstGeom prst="rect">
            <a:avLst/>
          </a:prstGeom>
          <a:solidFill>
            <a:srgbClr val="1A2347"/>
          </a:solidFill>
          <a:ln w="12700">
            <a:solidFill>
              <a:srgbClr val="2A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480560" y="914400"/>
            <a:ext cx="416052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90288" y="1005840"/>
            <a:ext cx="3941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git_stage_commit_recursive_macro.sas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90288" y="1234440"/>
            <a:ext cx="329184" cy="182880"/>
          </a:xfrm>
          <a:prstGeom prst="rect">
            <a:avLst/>
          </a:prstGeom>
          <a:solidFill>
            <a:srgbClr val="4A0000"/>
          </a:solidFill>
          <a:ln w="12700">
            <a:solidFill>
              <a:srgbClr val="4A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90288" y="1234440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956048" y="1234440"/>
            <a:ext cx="3575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"New" for every file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590288" y="1481328"/>
            <a:ext cx="329184" cy="182880"/>
          </a:xfrm>
          <a:prstGeom prst="rect">
            <a:avLst/>
          </a:prstGeom>
          <a:solidFill>
            <a:srgbClr val="004A1E"/>
          </a:solidFill>
          <a:ln w="12700">
            <a:solidFill>
              <a:srgbClr val="004A1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90288" y="148132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2A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956048" y="1481328"/>
            <a:ext cx="3575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git_status() per file, then pass correct status string.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480560" y="2286000"/>
            <a:ext cx="4160520" cy="1261872"/>
          </a:xfrm>
          <a:prstGeom prst="rect">
            <a:avLst/>
          </a:prstGeom>
          <a:solidFill>
            <a:srgbClr val="1A2347"/>
          </a:solidFill>
          <a:ln w="12700">
            <a:solidFill>
              <a:srgbClr val="2A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480560" y="2286000"/>
            <a:ext cx="416052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90288" y="2377440"/>
            <a:ext cx="3941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git_rebase_example_studio.sas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590288" y="2606040"/>
            <a:ext cx="329184" cy="182880"/>
          </a:xfrm>
          <a:prstGeom prst="rect">
            <a:avLst/>
          </a:prstGeom>
          <a:solidFill>
            <a:srgbClr val="4A0000"/>
          </a:solidFill>
          <a:ln w="12700">
            <a:solidFill>
              <a:srgbClr val="4A00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90288" y="2606040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4956048" y="2606040"/>
            <a:ext cx="3575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dataset variable "his-branch" / "your-branch" without parameterisation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590288" y="2852928"/>
            <a:ext cx="329184" cy="182880"/>
          </a:xfrm>
          <a:prstGeom prst="rect">
            <a:avLst/>
          </a:prstGeom>
          <a:solidFill>
            <a:srgbClr val="004A1E"/>
          </a:solidFill>
          <a:ln w="12700">
            <a:solidFill>
              <a:srgbClr val="004A1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90288" y="285292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2A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4956048" y="2852928"/>
            <a:ext cx="3575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macro variables &amp;upstream_id and &amp;current_id captured via git_commit_get(1,...).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480560" y="3657600"/>
            <a:ext cx="4160520" cy="1261872"/>
          </a:xfrm>
          <a:prstGeom prst="rect">
            <a:avLst/>
          </a:prstGeom>
          <a:solidFill>
            <a:srgbClr val="1A2347"/>
          </a:solidFill>
          <a:ln w="12700">
            <a:solidFill>
              <a:srgbClr val="2A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480560" y="3657600"/>
            <a:ext cx="4160520" cy="54864"/>
          </a:xfrm>
          <a:prstGeom prst="rect">
            <a:avLst/>
          </a:prstGeom>
          <a:solidFill>
            <a:srgbClr val="02A675"/>
          </a:solidFill>
          <a:ln w="12700">
            <a:solidFill>
              <a:srgbClr val="02A67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90288" y="3749040"/>
            <a:ext cx="3941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2A6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Correction: git_index_add_all() does not exist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590288" y="3977640"/>
            <a:ext cx="329184" cy="182880"/>
          </a:xfrm>
          <a:prstGeom prst="rect">
            <a:avLst/>
          </a:prstGeom>
          <a:solidFill>
            <a:srgbClr val="4A0000"/>
          </a:solidFill>
          <a:ln w="12700">
            <a:solidFill>
              <a:srgbClr val="4A000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90288" y="3977640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4956048" y="3977640"/>
            <a:ext cx="3575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assumed from docs — function does not exist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590288" y="4224528"/>
            <a:ext cx="329184" cy="182880"/>
          </a:xfrm>
          <a:prstGeom prst="rect">
            <a:avLst/>
          </a:prstGeom>
          <a:solidFill>
            <a:srgbClr val="004A1E"/>
          </a:solidFill>
          <a:ln w="12700">
            <a:solidFill>
              <a:srgbClr val="004A1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90288" y="422452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2A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4956048" y="4224528"/>
            <a:ext cx="3575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git_index_add() per file remains the correct approach. Always pass the correct status string: "New", "Modified", or "Deleted".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2347"/>
          </a:solidFill>
          <a:ln w="12700">
            <a:solidFill>
              <a:srgbClr val="1A234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74320" y="4873752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SAS Documentation — GIT Functions Reference  •  github.com/paulvanmol/usinggitinbasesas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 — All Git Functions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4343400" cy="4069080"/>
          </a:xfrm>
          <a:prstGeom prst="rect">
            <a:avLst/>
          </a:prstGeom>
          <a:solidFill>
            <a:srgbClr val="1A2347"/>
          </a:solidFill>
          <a:ln w="12700">
            <a:solidFill>
              <a:srgbClr val="2A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14400"/>
            <a:ext cx="43434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" y="1005840"/>
            <a:ext cx="4123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Workflow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8328" y="1316736"/>
            <a:ext cx="4123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git_init_repo(repo, branch, remote)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38328" y="1481328"/>
            <a:ext cx="41239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Initialise local repo (remote optional)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38328" y="1655064"/>
            <a:ext cx="4123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git_clone(url, path)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38328" y="1819656"/>
            <a:ext cx="41239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from GitHub/GitLab/etc.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38328" y="1993392"/>
            <a:ext cx="4123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git_status(repo)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38328" y="2157984"/>
            <a:ext cx="41239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of changed files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38328" y="2331720"/>
            <a:ext cx="4123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git_status_free(repo)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38328" y="2496312"/>
            <a:ext cx="41239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status handle (call between uses)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38328" y="2670048"/>
            <a:ext cx="4123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git_index_add(repo, file, status)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38328" y="2834640"/>
            <a:ext cx="41239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"New"|"Modified"|"Deleted"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38328" y="3008376"/>
            <a:ext cx="4123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git_index_add(repo, file, status)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38328" y="3172968"/>
            <a:ext cx="41239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"New"|"Modified"|"Deleted" — no shortcut exists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38328" y="3346704"/>
            <a:ext cx="4123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git_commit(repo,ref,name,email,msg)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38328" y="3511296"/>
            <a:ext cx="41239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"HEAD" for latest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38328" y="3685032"/>
            <a:ext cx="4123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git_commit_log(repo)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38328" y="3849624"/>
            <a:ext cx="41239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of commits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38328" y="4023360"/>
            <a:ext cx="4123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git_commit_get(n,repo,attr,out)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38328" y="4187952"/>
            <a:ext cx="41239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"id"|"message"|"author"|"time"|"in_current_branch"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38328" y="4361688"/>
            <a:ext cx="4123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git_push(repo, user, pat)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38328" y="4526280"/>
            <a:ext cx="41239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committed changes to remote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338328" y="4700016"/>
            <a:ext cx="4123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git_pull(repo, user, pat)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38328" y="4864608"/>
            <a:ext cx="41239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latest from remote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800600" y="914400"/>
            <a:ext cx="4343400" cy="4069080"/>
          </a:xfrm>
          <a:prstGeom prst="rect">
            <a:avLst/>
          </a:prstGeom>
          <a:solidFill>
            <a:srgbClr val="1A2347"/>
          </a:solidFill>
          <a:ln w="12700">
            <a:solidFill>
              <a:srgbClr val="2A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00600" y="914400"/>
            <a:ext cx="43434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10328" y="1005840"/>
            <a:ext cx="4123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Workflow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910328" y="1316736"/>
            <a:ext cx="4123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git_branch_new(repo,commit_id,name,overwrite)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910328" y="1481328"/>
            <a:ext cx="41239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branch from SHA commit ID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4910328" y="1655064"/>
            <a:ext cx="4123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git_branch_chkout(repo, branch)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910328" y="1819656"/>
            <a:ext cx="41239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a branch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910328" y="1993392"/>
            <a:ext cx="4123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git_stash(repo, name, email)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4910328" y="2157984"/>
            <a:ext cx="41239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Shelve uncommitted changes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4910328" y="2331720"/>
            <a:ext cx="4123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git_stash_pop(repo)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910328" y="2496312"/>
            <a:ext cx="41239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+ remove from stack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4910328" y="2670048"/>
            <a:ext cx="4123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git_stash_apply(repo)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910328" y="2834640"/>
            <a:ext cx="41239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Restore, keep on stack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910328" y="3008376"/>
            <a:ext cx="4123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git_stash_drop(repo)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910328" y="3172968"/>
            <a:ext cx="41239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without restoring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4910328" y="3346704"/>
            <a:ext cx="4123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git_rebase(repo,current_id,upstream_id,name,email)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4910328" y="3511296"/>
            <a:ext cx="41239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commits onto upstream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4910328" y="3685032"/>
            <a:ext cx="4123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git_rebase_op(repo,op,branch,name,email)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4910328" y="3849624"/>
            <a:ext cx="41239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"CONTINUE"|"SKIP"|"ABORT"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4910328" y="4023360"/>
            <a:ext cx="4123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git_set_url(repo, url)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4910328" y="4187952"/>
            <a:ext cx="41239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remote URL to local repo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228600" y="5047488"/>
            <a:ext cx="86868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functions return rc=0 on success. Non-zero rc = error — always PUT rc= after each call for debugging.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 Functions in Base SAS</dc:title>
  <dc:subject>PptxGenJS Presentation</dc:subject>
  <dc:creator>PptxGenJS</dc:creator>
  <cp:lastModifiedBy>PptxGenJS</cp:lastModifiedBy>
  <cp:revision>1</cp:revision>
  <dcterms:created xsi:type="dcterms:W3CDTF">2026-03-28T20:19:13Z</dcterms:created>
  <dcterms:modified xsi:type="dcterms:W3CDTF">2026-03-28T20:19:13Z</dcterms:modified>
</cp:coreProperties>
</file>

<file path=unpacked_git/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unpacked_git/_rels/.rels><?xml version="1.0" encoding="utf-8"?>
<Relationships xmlns="http://schemas.openxmlformats.org/package/2006/relationships">
  
		
  <Relationship Id="rId1" Type="http://schemas.openxmlformats.org/officeDocument/2006/relationships/extended-properties" Target="docProps/app.xml"/>
  
		
  <Relationship Id="rId2" Type="http://schemas.openxmlformats.org/package/2006/relationships/metadata/core-properties" Target="docProps/core.xml"/>
  
		
  <Relationship Id="rId3" Type="http://schemas.openxmlformats.org/officeDocument/2006/relationships/officeDocument" Target="ppt/presentation.xml"/>
  
		
</Relationships>

</file>

<file path=unpacked_git/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unpacked_git/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 Functions in Base SAS</dc:title>
  <dc:subject>PptxGenJS Presentation</dc:subject>
  <dc:creator>PptxGenJS</dc:creator>
  <cp:lastModifiedBy>PptxGenJS</cp:lastModifiedBy>
  <cp:revision>1</cp:revision>
  <dcterms:created xsi:type="dcterms:W3CDTF">2026-03-28T20:19:13Z</dcterms:created>
  <dcterms:modified xsi:type="dcterms:W3CDTF">2026-03-28T20:19:13Z</dcterms:modified>
</cp:coreProperties>
</file>

<file path=unpacked_git/ppt/_rels/presentation.xml.rels><?xml version="1.0" encoding="utf-8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slide" Target="slides/slide7.xml"/>
  <Relationship Id="rId9" Type="http://schemas.openxmlformats.org/officeDocument/2006/relationships/slide" Target="slides/slide8.xml"/>
  <Relationship Id="rId10" Type="http://schemas.openxmlformats.org/officeDocument/2006/relationships/slide" Target="slides/slide9.xml"/>
  <Relationship Id="rId11" Type="http://schemas.openxmlformats.org/officeDocument/2006/relationships/slide" Target="slides/slide10.xml"/>
  <Relationship Id="rId12" Type="http://schemas.openxmlformats.org/officeDocument/2006/relationships/notesMaster" Target="notesMasters/notesMaster1.xml"/>
  <Relationship Id="rId13" Type="http://schemas.openxmlformats.org/officeDocument/2006/relationships/presProps" Target="presProps.xml"/>
  <Relationship Id="rId14" Type="http://schemas.openxmlformats.org/officeDocument/2006/relationships/viewProps" Target="viewProps.xml"/>
  <Relationship Id="rId15" Type="http://schemas.openxmlformats.org/officeDocument/2006/relationships/theme" Target="theme/theme1.xml"/>
  <Relationship Id="rId16" Type="http://schemas.openxmlformats.org/officeDocument/2006/relationships/tableStyles" Target="tableStyles.xml"/>
</Relationships>

</file>

<file path=unpacked_git/ppt/notesMasters/_rels/notesMaster1.xml.rels><?xml version="1.0" encoding="utf-8"?>
<Relationships xmlns="http://schemas.openxmlformats.org/package/2006/relationships">
  
		
  <Relationship Id="rId1" Type="http://schemas.openxmlformats.org/officeDocument/2006/relationships/theme" Target="../theme/theme1.xml"/>
  
		
</Relationships>

</file>

<file path=unpacked_git/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unpacked_git/ppt/notesSlides/_rels/notesSlide1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1.xml"/>
  
		
</Relationships>

</file>

<file path=unpacked_git/ppt/notesSlides/_rels/notesSlide2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2.xml"/>
  
		
</Relationships>

</file>

<file path=unpacked_git/ppt/notesSlides/_rels/notesSlide3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3.xml"/>
  
		
</Relationships>

</file>

<file path=unpacked_git/ppt/notesSlides/_rels/notesSlide4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4.xml"/>
  
		
</Relationships>

</file>

<file path=unpacked_git/ppt/notesSlides/_rels/notesSlide5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5.xml"/>
  
		
</Relationships>

</file>

<file path=unpacked_git/ppt/notesSlides/_rels/notesSlide6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6.xml"/>
  
		
</Relationships>

</file>

<file path=unpacked_git/ppt/notesSlides/_rels/notesSlide7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7.xml"/>
  
		
</Relationships>

</file>

<file path=unpacked_git/ppt/notesSlides/_rels/notesSlide8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8.xml"/>
  
		
</Relationships>

</file>

<file path=unpacked_git/ppt/notesSlides/_rels/notesSlide9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9.xml"/>
  
		
</Relationships>

</file>

<file path=unpacked_git/ppt/notesSlides/_rels/notesSlide10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10.xml"/>
  
		
</Relationships>

</file>

<file path=unpacked_git/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unpacked_git/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unpacked_git/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unpacked_git/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unpacked_git/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unpacked_git/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unpacked_git/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unpacked_git/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unpacked_git/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unpacked_git/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unpacked_git/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unpacked_git/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unpacked_git/ppt/slideLayouts/_rels/slideLayout1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unpacked_git/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unpacked_git/ppt/slideMasters/_rels/slideMaster1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unpacked_git/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unpacked_git/ppt/slides/_rels/slide1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
</file>

<file path=unpacked_git/ppt/slides/_rels/slide2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
</file>

<file path=unpacked_git/ppt/slides/_rels/slide3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
</file>

<file path=unpacked_git/ppt/slides/_rels/slide4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
</file>

<file path=unpacked_git/ppt/slides/_rels/slide5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
</file>

<file path=unpacked_git/ppt/slides/_rels/slide6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.xml"/>
</Relationships>

</file>

<file path=unpacked_git/ppt/slides/_rels/slide7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7.xml"/>
</Relationships>

</file>

<file path=unpacked_git/ppt/slides/_rels/slide8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8.xml"/>
</Relationships>

</file>

<file path=unpacked_git/ppt/slides/_rels/slide9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9.xml"/>
</Relationships>

</file>

<file path=unpacked_git/ppt/slides/_rels/slide10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0.xml"/>
</Relationships>

</file>

<file path=unpacked_git/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40080"/>
            <a:ext cx="5303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Functions</a:t>
            </a:r>
            <a:endParaRPr lang="en-US" sz="4800" dirty="0"/>
          </a:p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Base SAS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11480" y="265176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SAS Git functions for real-world</a:t>
            </a:r>
            <a:endParaRPr lang="en-US" sz="1600" dirty="0"/>
          </a:p>
          <a:p>
            <a:pPr algn="l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and advanced workflows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11480" y="3657600"/>
            <a:ext cx="54864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657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Workflow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87705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· stage · commit · push · pull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4297680"/>
            <a:ext cx="54864" cy="457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2976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Workflow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451713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· stash · rebase · resolve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852160" y="365760"/>
            <a:ext cx="3063240" cy="4572000"/>
          </a:xfrm>
          <a:prstGeom prst="rect">
            <a:avLst/>
          </a:prstGeom>
          <a:solidFill>
            <a:srgbClr val="1A2347"/>
          </a:solidFill>
          <a:ln w="12700">
            <a:solidFill>
              <a:srgbClr val="2A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89320" y="47548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Reference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89320" y="822960"/>
            <a:ext cx="54864" cy="1828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82296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git_clone()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882128" y="822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a remote repo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989320" y="1101852"/>
            <a:ext cx="54864" cy="1828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110185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git_init_repo()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882128" y="11018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 a local repo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989320" y="1380744"/>
            <a:ext cx="54864" cy="1828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138074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git_status()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882128" y="138074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repo status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989320" y="1659636"/>
            <a:ext cx="54864" cy="1828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0" y="165963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git_index_add()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882128" y="165963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a file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989320" y="1938528"/>
            <a:ext cx="54864" cy="1828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6480" y="193852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git_commit()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882128" y="193852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staged files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989320" y="2217420"/>
            <a:ext cx="54864" cy="1828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26480" y="221742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git_commit_log()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7882128" y="22174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commits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989320" y="2496312"/>
            <a:ext cx="54864" cy="1828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26480" y="249631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git_commit_get()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882128" y="249631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commit attributes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989320" y="2775204"/>
            <a:ext cx="54864" cy="1828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26480" y="277520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git_push()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7882128" y="277520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remote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989320" y="3054096"/>
            <a:ext cx="54864" cy="1828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26480" y="305409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git_pull()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7882128" y="305409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from remote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989320" y="3332988"/>
            <a:ext cx="54864" cy="1828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26480" y="333298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git_branch_new()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7882128" y="33329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branch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989320" y="3611880"/>
            <a:ext cx="54864" cy="1828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26480" y="361188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git_branch_chkout()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7882128" y="36118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branch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989320" y="3890772"/>
            <a:ext cx="54864" cy="1828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126480" y="389077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git_stash()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7882128" y="38907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Stash uncommitted work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5989320" y="4169664"/>
            <a:ext cx="54864" cy="1828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126480" y="416966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git_stash_pop()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7882128" y="416966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stash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5989320" y="4448556"/>
            <a:ext cx="54864" cy="1828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126480" y="444855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git_rebase()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7882128" y="444855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Rebase branch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5989320" y="4727448"/>
            <a:ext cx="54864" cy="1828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126480" y="472744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git_rebase_op()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7882128" y="472744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rebase ops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411480" y="484632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github.com/paulvanmol/usinggitinbasesas</a:t>
            </a:r>
            <a:endParaRPr lang="en-US" sz="900" dirty="0"/>
          </a:p>
        </p:txBody>
      </p:sp>
    </p:spTree>
  </p:cSld>
  <p:clrMapOvr>
    <a:masterClrMapping/>
  </p:clrMapOvr>
</p:sld>
</file>

<file path=unpacked_git/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Repository Structure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84124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Reorganise your flat file list into two clearly named folders so learners know exactly where to start.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3931920" cy="3520440"/>
          </a:xfrm>
          <a:prstGeom prst="rect">
            <a:avLst/>
          </a:prstGeom>
          <a:solidFill>
            <a:srgbClr val="1A2347"/>
          </a:solidFill>
          <a:ln w="12700">
            <a:solidFill>
              <a:srgbClr val="2A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26187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— flat root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57276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git_clone_example.sas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81965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git_init_repo.sas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06654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git_stage_commit_example.sas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231343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git_push_example.sas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25603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git_pull_example.sas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280720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git_branch_new.sas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305409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git_branch_chkout_example.sas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330098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git_stash_example.sas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354787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git_rebase_example_studio.sas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37947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git_audit_trail_example.sas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404164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git_stage_commit_macro.sas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428853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git_stage_commit_recursive_macro.sas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279392" y="2743200"/>
            <a:ext cx="548640" cy="36576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79392" y="2606040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4892040" y="1188720"/>
            <a:ext cx="3977640" cy="3520440"/>
          </a:xfrm>
          <a:prstGeom prst="rect">
            <a:avLst/>
          </a:prstGeom>
          <a:solidFill>
            <a:srgbClr val="1A2347"/>
          </a:solidFill>
          <a:ln w="12700">
            <a:solidFill>
              <a:srgbClr val="2A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074920" y="126187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2A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— two folders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74920" y="1572768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basic/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074920" y="1810512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📄 01_init_repo.sas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074920" y="2048256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📄 02_clone.sas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74920" y="2286000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📄 03_stage_commit.sas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074920" y="2523744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📄 04_push.sas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074920" y="2761488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📄 05_pull.sas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074920" y="2999232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📄 06_audit_trail.sas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074920" y="3236976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📄 07_stage_commit_macro.sas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074920" y="3474720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advanced/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074920" y="3712464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📄 01_branch_new.sas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074920" y="3950208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📄 02_branch_checkout.sas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074920" y="4187952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📄 03_stash.sas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074920" y="4425696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📄 04_rebase.sas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74320" y="4773168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Numbered prefixes enforce the learning order. README in each folder explains prerequisites.</a:t>
            </a:r>
            <a:endParaRPr lang="en-US" sz="950" dirty="0"/>
          </a:p>
        </p:txBody>
      </p:sp>
    </p:spTree>
  </p:cSld>
  <p:clrMapOvr>
    <a:masterClrMapping/>
  </p:clrMapOvr>
</p:sld>
</file>

<file path=unpacked_git/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Workflow — end-to-end in SAS code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1325880" cy="2011680"/>
          </a:xfrm>
          <a:prstGeom prst="rect">
            <a:avLst/>
          </a:prstGeom>
          <a:solidFill>
            <a:srgbClr val="1A2347"/>
          </a:solidFill>
          <a:ln w="12700">
            <a:solidFill>
              <a:srgbClr val="2A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60120"/>
            <a:ext cx="132588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0664" y="1051560"/>
            <a:ext cx="292608" cy="29260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051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83464" y="1417320"/>
            <a:ext cx="1216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git_init_repo()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83464" y="1691640"/>
            <a:ext cx="1216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Initialise / Clone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01752" y="1984248"/>
            <a:ext cx="117957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a local repo from scratch or clone from GitHub. Use git_clone() for an existing remote.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554480" y="1943100"/>
            <a:ext cx="4572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00200" y="960120"/>
            <a:ext cx="1325880" cy="2011680"/>
          </a:xfrm>
          <a:prstGeom prst="rect">
            <a:avLst/>
          </a:prstGeom>
          <a:solidFill>
            <a:srgbClr val="1A2347"/>
          </a:solidFill>
          <a:ln w="12700">
            <a:solidFill>
              <a:srgbClr val="2A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600200" y="960120"/>
            <a:ext cx="132588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12264" y="1051560"/>
            <a:ext cx="292608" cy="29260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12264" y="1051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655064" y="1417320"/>
            <a:ext cx="1216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git_status()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655064" y="1691640"/>
            <a:ext cx="1216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status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673352" y="1984248"/>
            <a:ext cx="117957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number of changed files. Call git_status_free() between calls to release memory.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926080" y="1943100"/>
            <a:ext cx="4572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971800" y="960120"/>
            <a:ext cx="1325880" cy="2011680"/>
          </a:xfrm>
          <a:prstGeom prst="rect">
            <a:avLst/>
          </a:prstGeom>
          <a:solidFill>
            <a:srgbClr val="1A2347"/>
          </a:solidFill>
          <a:ln w="12700">
            <a:solidFill>
              <a:srgbClr val="2A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971800" y="960120"/>
            <a:ext cx="132588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83864" y="1051560"/>
            <a:ext cx="292608" cy="29260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83864" y="1051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026664" y="1417320"/>
            <a:ext cx="1216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git_index_add()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026664" y="1691640"/>
            <a:ext cx="1216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files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044952" y="1984248"/>
            <a:ext cx="117957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each changed file to the index. Use git_index_add() per file with correct status: "New", "Modified", or "Deleted".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297680" y="1943100"/>
            <a:ext cx="4572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43400" y="960120"/>
            <a:ext cx="1325880" cy="2011680"/>
          </a:xfrm>
          <a:prstGeom prst="rect">
            <a:avLst/>
          </a:prstGeom>
          <a:solidFill>
            <a:srgbClr val="1A2347"/>
          </a:solidFill>
          <a:ln w="12700">
            <a:solidFill>
              <a:srgbClr val="2A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343400" y="960120"/>
            <a:ext cx="132588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55464" y="1051560"/>
            <a:ext cx="292608" cy="29260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55464" y="1051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398264" y="1417320"/>
            <a:ext cx="1216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git_commit()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398264" y="1691640"/>
            <a:ext cx="1216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416552" y="1984248"/>
            <a:ext cx="117957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repo path, "HEAD", author name, email, and message. Returns 0 on success.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669280" y="1943100"/>
            <a:ext cx="4572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715000" y="960120"/>
            <a:ext cx="1325880" cy="2011680"/>
          </a:xfrm>
          <a:prstGeom prst="rect">
            <a:avLst/>
          </a:prstGeom>
          <a:solidFill>
            <a:srgbClr val="1A2347"/>
          </a:solidFill>
          <a:ln w="12700">
            <a:solidFill>
              <a:srgbClr val="2A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715000" y="960120"/>
            <a:ext cx="132588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27064" y="1051560"/>
            <a:ext cx="292608" cy="29260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27064" y="1051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769864" y="1417320"/>
            <a:ext cx="1216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git_push()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769864" y="1691640"/>
            <a:ext cx="1216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remote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788152" y="1984248"/>
            <a:ext cx="117957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repo path, GitHub username, and PAT. Store PAT in a macro variable with nosymbolgen.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7040880" y="1943100"/>
            <a:ext cx="4572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086600" y="960120"/>
            <a:ext cx="1325880" cy="2011680"/>
          </a:xfrm>
          <a:prstGeom prst="rect">
            <a:avLst/>
          </a:prstGeom>
          <a:solidFill>
            <a:srgbClr val="1A2347"/>
          </a:solidFill>
          <a:ln w="12700">
            <a:solidFill>
              <a:srgbClr val="2A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7086600" y="960120"/>
            <a:ext cx="132588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598664" y="1051560"/>
            <a:ext cx="292608" cy="29260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598664" y="1051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7141464" y="1417320"/>
            <a:ext cx="1216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git_pull()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7141464" y="1691640"/>
            <a:ext cx="1216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from remote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7159752" y="1984248"/>
            <a:ext cx="117957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latest commits from the remote into your local repo before starting new work.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0" y="3063240"/>
            <a:ext cx="9144000" cy="2080260"/>
          </a:xfrm>
          <a:prstGeom prst="rect">
            <a:avLst/>
          </a:prstGeom>
          <a:solidFill>
            <a:srgbClr val="1A2347"/>
          </a:solidFill>
          <a:ln w="12700">
            <a:solidFill>
              <a:srgbClr val="1A2347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0" y="3063240"/>
            <a:ext cx="54864" cy="20802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01168" y="312724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pattern from your examples — stage each file individually then commit once: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201168" y="3429000"/>
            <a:ext cx="5943600" cy="1554480"/>
          </a:xfrm>
          <a:prstGeom prst="rect">
            <a:avLst/>
          </a:prstGeom>
          <a:solidFill>
            <a:srgbClr val="0A0F1E"/>
          </a:solidFill>
          <a:ln w="12700">
            <a:solidFill>
              <a:srgbClr val="2A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201168" y="3429000"/>
            <a:ext cx="5943600" cy="237744"/>
          </a:xfrm>
          <a:prstGeom prst="rect">
            <a:avLst/>
          </a:prstGeom>
          <a:solidFill>
            <a:srgbClr val="161B2E"/>
          </a:solidFill>
          <a:ln w="12700">
            <a:solidFill>
              <a:srgbClr val="2A356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10896" y="3447288"/>
            <a:ext cx="5724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03_stage_commit.sas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329184" y="3758184"/>
            <a:ext cx="568756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_null_;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rc = git_index_add("&amp;repopath", "myreport.sas", "New");  /* stage one file */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rc = git_index_add("&amp;repopath", "macros/helper.sas", "New");  /* stage another */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rc = git_status_free("&amp;repopath");   /* release status handle */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_null_;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rc = git_commit("&amp;repopath", "HEAD", "&amp;gituser", "&amp;gitemail", "Add report and helper macro");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put rc=;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run;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263640" y="3429000"/>
            <a:ext cx="2651760" cy="1554480"/>
          </a:xfrm>
          <a:prstGeom prst="rect">
            <a:avLst/>
          </a:prstGeom>
          <a:solidFill>
            <a:srgbClr val="0A0F1E"/>
          </a:solidFill>
          <a:ln w="12700">
            <a:solidFill>
              <a:srgbClr val="2A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6382512" y="352044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Docs tip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6382512" y="3767328"/>
            <a:ext cx="2423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git_index_add() 3rd arg: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"New" → new file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"Modified" → changed file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"Deleted" → removed file</a:t>
            </a:r>
            <a:endParaRPr lang="en-US" sz="900" dirty="0"/>
          </a:p>
          <a:p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git_status_get() to detect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file's status before staging.</a:t>
            </a:r>
            <a:endParaRPr lang="en-US" sz="900" dirty="0"/>
          </a:p>
        </p:txBody>
      </p:sp>
    </p:spTree>
  </p:cSld>
  <p:clrMapOvr>
    <a:masterClrMapping/>
  </p:clrMapOvr>
</p:sld>
</file>

<file path=unpacked_git/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History — git_commit_log() &amp; git_commit_get()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84124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these to build audit trails, find the latest commit ID before branching, or report who changed what.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3931920" cy="1143000"/>
          </a:xfrm>
          <a:prstGeom prst="rect">
            <a:avLst/>
          </a:prstGeom>
          <a:solidFill>
            <a:srgbClr val="1A2347"/>
          </a:solidFill>
          <a:ln w="12700">
            <a:solidFill>
              <a:srgbClr val="2A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88720"/>
            <a:ext cx="393192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298448"/>
            <a:ext cx="3712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git_commit_log(repo)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1618488"/>
            <a:ext cx="37124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count of all commits. Use this to know how many rows to iterate over.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2423160"/>
            <a:ext cx="3931920" cy="1143000"/>
          </a:xfrm>
          <a:prstGeom prst="rect">
            <a:avLst/>
          </a:prstGeom>
          <a:solidFill>
            <a:srgbClr val="1A2347"/>
          </a:solidFill>
          <a:ln w="12700">
            <a:solidFill>
              <a:srgbClr val="2A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423160"/>
            <a:ext cx="393192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2532888"/>
            <a:ext cx="3712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git_commit_get(n, repo, attr, out)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4048" y="2852928"/>
            <a:ext cx="37124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one attribute for commit n.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Attributes: "id", "message", "author", "email", "time", "in_current_branch"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3657600"/>
            <a:ext cx="3931920" cy="1143000"/>
          </a:xfrm>
          <a:prstGeom prst="rect">
            <a:avLst/>
          </a:prstGeom>
          <a:solidFill>
            <a:srgbClr val="1A2347"/>
          </a:solidFill>
          <a:ln w="12700">
            <a:solidFill>
              <a:srgbClr val="2A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657600"/>
            <a:ext cx="393192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3767328"/>
            <a:ext cx="3712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"in_current_branch" attribute (docs)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84048" y="4087368"/>
            <a:ext cx="37124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"TRUE" or "FALSE". Filter on this to get only the commits for the active branch — critical for branching workflows.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343400" y="1188720"/>
            <a:ext cx="4526280" cy="3611880"/>
          </a:xfrm>
          <a:prstGeom prst="rect">
            <a:avLst/>
          </a:prstGeom>
          <a:solidFill>
            <a:srgbClr val="0A0F1E"/>
          </a:solidFill>
          <a:ln w="12700">
            <a:solidFill>
              <a:srgbClr val="2A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343400" y="1188720"/>
            <a:ext cx="4526280" cy="237744"/>
          </a:xfrm>
          <a:prstGeom prst="rect">
            <a:avLst/>
          </a:prstGeom>
          <a:solidFill>
            <a:srgbClr val="161B2E"/>
          </a:solidFill>
          <a:ln w="12700">
            <a:solidFill>
              <a:srgbClr val="2A35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53128" y="1207008"/>
            <a:ext cx="4306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06_audit_trail.sas (updated)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471416" y="1517904"/>
            <a:ext cx="4270248" cy="3209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Get count of commits */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_null_;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 = git_commit_log("&amp;repopath");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put n=;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run;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Loop all commits → dataset */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commit_history;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length id $1024 author $256 msg $1024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in_branch $6 time $17;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 = git_commit_log("&amp;repopath");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 i = 1 to n;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rc = git_commit_get(i,"&amp;repopath","id",    id);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rc = git_commit_get(i,"&amp;repopath","author",author);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rc = git_commit_get(i,"&amp;repopath","message",msg);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rc = git_commit_get(i,"&amp;repopath","time",  time);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rc = git_commit_get(i,"&amp;repopath",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"in_current_branch",   in_branch);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output;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end;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run;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Save most recent commit id for branching */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_null_;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set commit_history(obs=1);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call symputx('latest_id', id);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run;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74320" y="478231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Your original audit trail example iterated commits but didn't filter by in_current_branch — adding that makes it branch-aware.</a:t>
            </a:r>
            <a:endParaRPr lang="en-US" sz="950" dirty="0"/>
          </a:p>
        </p:txBody>
      </p:sp>
    </p:spTree>
  </p:cSld>
  <p:clrMapOvr>
    <a:masterClrMapping/>
  </p:clrMapOvr>
</p:sld>
</file>

<file path=unpacked_git/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Tool — git_stage_commit_recursive_macro.sas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84124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walks directories and stages all *.sas files — great for bulk commits after a refactor.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3931920" cy="1005840"/>
          </a:xfrm>
          <a:prstGeom prst="rect">
            <a:avLst/>
          </a:prstGeom>
          <a:solidFill>
            <a:srgbClr val="1A2347"/>
          </a:solidFill>
          <a:ln w="12700">
            <a:solidFill>
              <a:srgbClr val="2A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88720"/>
            <a:ext cx="393192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2984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1298448"/>
            <a:ext cx="3364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4048" y="1645920"/>
            <a:ext cx="3712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FINFO/DOPEN to walk subdirectories recursively and calls git_index_add() on each .sas file found.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2286000"/>
            <a:ext cx="3931920" cy="914400"/>
          </a:xfrm>
          <a:prstGeom prst="rect">
            <a:avLst/>
          </a:prstGeom>
          <a:solidFill>
            <a:srgbClr val="1A2347"/>
          </a:solidFill>
          <a:ln w="12700">
            <a:solidFill>
              <a:srgbClr val="2A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286000"/>
            <a:ext cx="393192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23957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2395728"/>
            <a:ext cx="3364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it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4048" y="2743200"/>
            <a:ext cx="3712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migrating or reorganising a whole project folder. One call instead of dozens of git_index_add() calls.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3291840"/>
            <a:ext cx="3931920" cy="1005840"/>
          </a:xfrm>
          <a:prstGeom prst="rect">
            <a:avLst/>
          </a:prstGeom>
          <a:solidFill>
            <a:srgbClr val="1A2347"/>
          </a:solidFill>
          <a:ln w="12700">
            <a:solidFill>
              <a:srgbClr val="2A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291840"/>
            <a:ext cx="393192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34015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📖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31520" y="3401568"/>
            <a:ext cx="3364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enhancement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4048" y="3749040"/>
            <a:ext cx="3712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git_index_add() accepts "New", "Modified", or "Deleted" as status. Add logic to detect the file status before staging.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343400" y="1188720"/>
            <a:ext cx="4526280" cy="2560320"/>
          </a:xfrm>
          <a:prstGeom prst="rect">
            <a:avLst/>
          </a:prstGeom>
          <a:solidFill>
            <a:srgbClr val="0A0F1E"/>
          </a:solidFill>
          <a:ln w="12700">
            <a:solidFill>
              <a:srgbClr val="2A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343400" y="1188720"/>
            <a:ext cx="4526280" cy="237744"/>
          </a:xfrm>
          <a:prstGeom prst="rect">
            <a:avLst/>
          </a:prstGeom>
          <a:solidFill>
            <a:srgbClr val="161B2E"/>
          </a:solidFill>
          <a:ln w="12700">
            <a:solidFill>
              <a:srgbClr val="2A35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53128" y="1207008"/>
            <a:ext cx="4306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07_stage_commit_macro.sas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471416" y="1517904"/>
            <a:ext cx="4270248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Usage: point at repo and folder */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%let repopath = /home/sasdemo/myproject;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%let scanpath = &amp;repopath./src;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%stage_recursive(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repo    = &amp;repopath,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folder  = &amp;scanpath,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pattern = *.sas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Then commit everything in one shot */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_null_;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rc = git_commit(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"&amp;repopath",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"HEAD",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"&amp;gituser",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"&amp;gitemail",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"Bulk stage all SAS files after refactor"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put rc=;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run;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343400" y="3840480"/>
            <a:ext cx="4526280" cy="1051560"/>
          </a:xfrm>
          <a:prstGeom prst="rect">
            <a:avLst/>
          </a:prstGeom>
          <a:solidFill>
            <a:srgbClr val="0A0F1E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80560" y="3913632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Improvement from docs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480560" y="4187952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macro hardcodes "New". The docs show that git_index_add() accepts "Modified" and "Deleted" too — update the macro to call git_status() first and choose the correct status per file.</a:t>
            </a:r>
            <a:endParaRPr lang="en-US" sz="950" dirty="0"/>
          </a:p>
        </p:txBody>
      </p:sp>
    </p:spTree>
  </p:cSld>
  <p:clrMapOvr>
    <a:masterClrMapping/>
  </p:clrMapOvr>
</p:sld>
</file>

<file path=unpacked_git/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— Branching with git_branch_new() &amp; git_branch_chkout()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84124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 let teammates work in parallel without touching each other's code. Here's the full SAS workflow.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1188720"/>
            <a:ext cx="1325880" cy="1600200"/>
          </a:xfrm>
          <a:prstGeom prst="rect">
            <a:avLst/>
          </a:prstGeom>
          <a:solidFill>
            <a:srgbClr val="1A2347"/>
          </a:solidFill>
          <a:ln w="12700">
            <a:solidFill>
              <a:srgbClr val="2A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188720"/>
            <a:ext cx="132588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0664" y="1280160"/>
            <a:ext cx="292608" cy="29260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0664" y="1280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83464" y="1627632"/>
            <a:ext cx="1216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latest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ID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83464" y="2011680"/>
            <a:ext cx="12161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git_commit_log()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git_commit_get()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&amp;latest_id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554480" y="1965960"/>
            <a:ext cx="4572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00200" y="1188720"/>
            <a:ext cx="1325880" cy="1600200"/>
          </a:xfrm>
          <a:prstGeom prst="rect">
            <a:avLst/>
          </a:prstGeom>
          <a:solidFill>
            <a:srgbClr val="1A2347"/>
          </a:solidFill>
          <a:ln w="12700">
            <a:solidFill>
              <a:srgbClr val="2A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600200" y="1188720"/>
            <a:ext cx="132588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12264" y="1280160"/>
            <a:ext cx="292608" cy="29260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12264" y="1280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655064" y="1627632"/>
            <a:ext cx="1216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655064" y="2011680"/>
            <a:ext cx="12161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git_branch_new()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commit id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overwrite=1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926080" y="1965960"/>
            <a:ext cx="4572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71800" y="1188720"/>
            <a:ext cx="1325880" cy="1600200"/>
          </a:xfrm>
          <a:prstGeom prst="rect">
            <a:avLst/>
          </a:prstGeom>
          <a:solidFill>
            <a:srgbClr val="1A2347"/>
          </a:solidFill>
          <a:ln w="12700">
            <a:solidFill>
              <a:srgbClr val="2A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971800" y="1188720"/>
            <a:ext cx="132588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83864" y="1280160"/>
            <a:ext cx="292608" cy="29260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83864" y="1280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026664" y="1627632"/>
            <a:ext cx="1216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branch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026664" y="2011680"/>
            <a:ext cx="12161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git_branch_chkout()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'feature/...'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297680" y="1965960"/>
            <a:ext cx="4572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43400" y="1188720"/>
            <a:ext cx="1325880" cy="1600200"/>
          </a:xfrm>
          <a:prstGeom prst="rect">
            <a:avLst/>
          </a:prstGeom>
          <a:solidFill>
            <a:srgbClr val="1A2347"/>
          </a:solidFill>
          <a:ln w="12700">
            <a:solidFill>
              <a:srgbClr val="2A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343400" y="1188720"/>
            <a:ext cx="132588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55464" y="1280160"/>
            <a:ext cx="292608" cy="29260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55464" y="1280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398264" y="1627632"/>
            <a:ext cx="1216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+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stage+commit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398264" y="2011680"/>
            <a:ext cx="12161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Edit files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git_index_add()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git_commit()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669280" y="1965960"/>
            <a:ext cx="4572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15000" y="1188720"/>
            <a:ext cx="1325880" cy="1600200"/>
          </a:xfrm>
          <a:prstGeom prst="rect">
            <a:avLst/>
          </a:prstGeom>
          <a:solidFill>
            <a:srgbClr val="1A2347"/>
          </a:solidFill>
          <a:ln w="12700">
            <a:solidFill>
              <a:srgbClr val="2A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715000" y="1188720"/>
            <a:ext cx="132588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27064" y="1280160"/>
            <a:ext cx="292608" cy="29260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27064" y="1280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769864" y="1627632"/>
            <a:ext cx="1216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to main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769864" y="2011680"/>
            <a:ext cx="12161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git_branch_chkout()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'main'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7040880" y="1965960"/>
            <a:ext cx="4572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086600" y="1188720"/>
            <a:ext cx="1325880" cy="1600200"/>
          </a:xfrm>
          <a:prstGeom prst="rect">
            <a:avLst/>
          </a:prstGeom>
          <a:solidFill>
            <a:srgbClr val="1A2347"/>
          </a:solidFill>
          <a:ln w="12700">
            <a:solidFill>
              <a:srgbClr val="2A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086600" y="1188720"/>
            <a:ext cx="132588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598664" y="1280160"/>
            <a:ext cx="292608" cy="29260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598664" y="1280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141464" y="1627632"/>
            <a:ext cx="1216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Rebase /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141464" y="2011680"/>
            <a:ext cx="12161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git_rebase()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 PR in GitHub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228600" y="2880360"/>
            <a:ext cx="4617720" cy="2103120"/>
          </a:xfrm>
          <a:prstGeom prst="rect">
            <a:avLst/>
          </a:prstGeom>
          <a:solidFill>
            <a:srgbClr val="0A0F1E"/>
          </a:solidFill>
          <a:ln w="12700">
            <a:solidFill>
              <a:srgbClr val="2A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228600" y="2880360"/>
            <a:ext cx="4617720" cy="237744"/>
          </a:xfrm>
          <a:prstGeom prst="rect">
            <a:avLst/>
          </a:prstGeom>
          <a:solidFill>
            <a:srgbClr val="161B2E"/>
          </a:solidFill>
          <a:ln w="12700">
            <a:solidFill>
              <a:srgbClr val="2A356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38328" y="2898648"/>
            <a:ext cx="4398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advanced/01_branch_new.sas (updated)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56616" y="3209544"/>
            <a:ext cx="4361688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1. Get latest commit on main */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_null_;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 = git_commit_log("&amp;repopath");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length id $1024;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rc = git_commit_get(1, "&amp;repopath", "id", id);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call symputx('latest_id', id);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run;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2. Create feature branch FROM that commit */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_null_;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rc = git_branch_new(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"&amp;repopath",        /* repo path           */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"&amp;latest_id",       /* base commit         */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"feature/my_task",  /* branch name         */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1);                 /* overwrite if exists */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put rc=;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run;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3. Switch to the new branch */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_null_;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rc = git_branch_chkout("&amp;repopath", "feature/my_task");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put rc=;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run;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983480" y="2880360"/>
            <a:ext cx="3886200" cy="2103120"/>
          </a:xfrm>
          <a:prstGeom prst="rect">
            <a:avLst/>
          </a:prstGeom>
          <a:solidFill>
            <a:srgbClr val="0A0F1E"/>
          </a:solidFill>
          <a:ln w="12700">
            <a:solidFill>
              <a:srgbClr val="2A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5102352" y="29443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What changed from your original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102352" y="3291840"/>
            <a:ext cx="182880" cy="1828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321808" y="324612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git_branch_new.sas used n (the count) as the commit ID — that's wrong. n is the number of commits, not a commit hash.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102352" y="3694176"/>
            <a:ext cx="182880" cy="1828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321808" y="3648456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git_commit_get(1, ...) at position 1 gives the most recent commit — that's the correct base for a new branch.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102352" y="4096512"/>
            <a:ext cx="182880" cy="1828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321808" y="4050792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docs clarify that the 2nd arg to git_branch_new() must be a full SHA commit ID string, not an integer.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5102352" y="4498848"/>
            <a:ext cx="182880" cy="1828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321808" y="445312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git_branch_chkout_example.sas was already correct — just hardcoded to "main".</a:t>
            </a:r>
            <a:endParaRPr lang="en-US" sz="900" dirty="0"/>
          </a:p>
        </p:txBody>
      </p:sp>
    </p:spTree>
  </p:cSld>
  <p:clrMapOvr>
    <a:masterClrMapping/>
  </p:clrMapOvr>
</p:sld>
</file>

<file path=unpacked_git/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— Stash: park work and come back later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84124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Stash temporarily shelves uncommitted changes so you can switch branches with a clean working directory.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3749040" cy="1078992"/>
          </a:xfrm>
          <a:prstGeom prst="rect">
            <a:avLst/>
          </a:prstGeom>
          <a:solidFill>
            <a:srgbClr val="1A2347"/>
          </a:solidFill>
          <a:ln w="12700">
            <a:solidFill>
              <a:srgbClr val="2A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88720"/>
            <a:ext cx="374904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2984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🔥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1298448"/>
            <a:ext cx="3182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urgent fix needed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4048" y="1645920"/>
            <a:ext cx="35295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mid-way through feature work. A colleague needs a hotfix on main. Stash → fix → pop.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2377440"/>
            <a:ext cx="3749040" cy="1078992"/>
          </a:xfrm>
          <a:prstGeom prst="rect">
            <a:avLst/>
          </a:prstGeom>
          <a:solidFill>
            <a:srgbClr val="1A2347"/>
          </a:solidFill>
          <a:ln w="12700">
            <a:solidFill>
              <a:srgbClr val="2A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377440"/>
            <a:ext cx="374904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24871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🔀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2487168"/>
            <a:ext cx="3182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branch safely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4048" y="2834640"/>
            <a:ext cx="35295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git_branch_chkout() can fail if there are uncommitted changes. Stash first to get a clean state.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3611880"/>
            <a:ext cx="3749040" cy="1280160"/>
          </a:xfrm>
          <a:prstGeom prst="rect">
            <a:avLst/>
          </a:prstGeom>
          <a:solidFill>
            <a:srgbClr val="1A2347"/>
          </a:solidFill>
          <a:ln w="12700">
            <a:solidFill>
              <a:srgbClr val="2A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11480" y="367588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stash functions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1480" y="39776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git_stash()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67712" y="3977640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uncommitted work onto the stash stack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11480" y="419709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git_stash_pop()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267712" y="4197096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top stash AND remove it from stack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11480" y="44165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git_stash_apply()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267712" y="4416552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top stash but KEEP it on the stack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11480" y="46360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git_stash_drop()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267712" y="4636008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top stash entry without restoring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206240" y="1188720"/>
            <a:ext cx="4663440" cy="3703320"/>
          </a:xfrm>
          <a:prstGeom prst="rect">
            <a:avLst/>
          </a:prstGeom>
          <a:solidFill>
            <a:srgbClr val="0A0F1E"/>
          </a:solidFill>
          <a:ln w="12700">
            <a:solidFill>
              <a:srgbClr val="2A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206240" y="1188720"/>
            <a:ext cx="4663440" cy="237744"/>
          </a:xfrm>
          <a:prstGeom prst="rect">
            <a:avLst/>
          </a:prstGeom>
          <a:solidFill>
            <a:srgbClr val="161B2E"/>
          </a:solidFill>
          <a:ln w="12700">
            <a:solidFill>
              <a:srgbClr val="2A35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15968" y="1207008"/>
            <a:ext cx="4443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advanced/03_stash.sas (updated)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334256" y="1517904"/>
            <a:ext cx="4407408" cy="3300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STASH: save current in-progress work */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_null_;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rc = git_stash(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"&amp;repopath",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"&amp;gituser",     /* author name  */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"&amp;gitemail");   /* author email */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put rc=;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run;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=== do your urgent work on main === */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... stage, commit, push ... */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RESTORE: bring back your feature work */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_null_;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rc = git_stash_pop("&amp;repopath");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put rc=;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run;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Alternative: apply keeps stash intact */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data _null_;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rc = git_stash_apply("&amp;repopath");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run; */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Drop a stash you no longer need */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data _null_;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rc = git_stash_drop("&amp;repopath");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run; */</a:t>
            </a:r>
            <a:endParaRPr lang="en-US" sz="950" dirty="0"/>
          </a:p>
        </p:txBody>
      </p:sp>
    </p:spTree>
  </p:cSld>
  <p:clrMapOvr>
    <a:masterClrMapping/>
  </p:clrMapOvr>
</p:sld>
</file>

<file path=unpacked_git/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— Rebase: replay your branch onto main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84124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Rebase moves your feature branch commits on top of the latest main, giving a clean linear history without a merge commit.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70432"/>
            <a:ext cx="3840480" cy="822960"/>
          </a:xfrm>
          <a:prstGeom prst="rect">
            <a:avLst/>
          </a:prstGeom>
          <a:solidFill>
            <a:srgbClr val="1A2347"/>
          </a:solidFill>
          <a:ln w="12700">
            <a:solidFill>
              <a:srgbClr val="2A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70432"/>
            <a:ext cx="384048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280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📐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1280160"/>
            <a:ext cx="3273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rebase instead of merge?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4048" y="1627632"/>
            <a:ext cx="3621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a linear commit history — easier to read and bisect. Standard in feature-branch workflows before pushing.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2084832"/>
            <a:ext cx="3840480" cy="822960"/>
          </a:xfrm>
          <a:prstGeom prst="rect">
            <a:avLst/>
          </a:prstGeom>
          <a:solidFill>
            <a:srgbClr val="1A2347"/>
          </a:solidFill>
          <a:ln w="12700">
            <a:solidFill>
              <a:srgbClr val="2A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084832"/>
            <a:ext cx="384048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2194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⚠️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2194560"/>
            <a:ext cx="3273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git_rebase_op() — conflict handling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4048" y="2542032"/>
            <a:ext cx="3621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"CONTINUE" after resolving, "SKIP" to skip a patch, "ABORT" to cancel the rebase entirely.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2999232"/>
            <a:ext cx="3840480" cy="914400"/>
          </a:xfrm>
          <a:prstGeom prst="rect">
            <a:avLst/>
          </a:prstGeom>
          <a:solidFill>
            <a:srgbClr val="1A2347"/>
          </a:solidFill>
          <a:ln w="12700">
            <a:solidFill>
              <a:srgbClr val="2A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999232"/>
            <a:ext cx="3840480" cy="54864"/>
          </a:xfrm>
          <a:prstGeom prst="rect">
            <a:avLst/>
          </a:prstGeom>
          <a:solidFill>
            <a:srgbClr val="02A675"/>
          </a:solidFill>
          <a:ln w="12700">
            <a:solidFill>
              <a:srgbClr val="02A67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31089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31520" y="3108960"/>
            <a:ext cx="3273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your code got right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4048" y="3456432"/>
            <a:ext cx="3621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out each branch to capture its HEAD commit ID before calling git_rebase() — that's correct. Docs confirm you need both commit SHAs.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297680" y="1170432"/>
            <a:ext cx="4572000" cy="3703320"/>
          </a:xfrm>
          <a:prstGeom prst="rect">
            <a:avLst/>
          </a:prstGeom>
          <a:solidFill>
            <a:srgbClr val="0A0F1E"/>
          </a:solidFill>
          <a:ln w="12700">
            <a:solidFill>
              <a:srgbClr val="2A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297680" y="1170432"/>
            <a:ext cx="4572000" cy="237744"/>
          </a:xfrm>
          <a:prstGeom prst="rect">
            <a:avLst/>
          </a:prstGeom>
          <a:solidFill>
            <a:srgbClr val="161B2E"/>
          </a:solidFill>
          <a:ln w="12700">
            <a:solidFill>
              <a:srgbClr val="2A35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07408" y="1188720"/>
            <a:ext cx="4352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advanced/04_rebase.sas (updated)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425696" y="1499616"/>
            <a:ext cx="4315968" cy="3300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Step 1: get upstream (main) commit id */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_null_;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rc = git_branch_chkout("&amp;repopath","main");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length id $1024;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  = git_commit_log("&amp;repopath");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rc = git_commit_get(1,"&amp;repopath","id",id);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call symputx('upstream_id', id);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run;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Step 2: switch back to feature branch */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_null_;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rc = git_branch_chkout("&amp;repopath","feature/my_task");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length id $1024;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  = git_commit_log("&amp;repopath");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rc = git_commit_get(1,"&amp;repopath","id",id);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call symputx('current_id', id);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run;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Step 3: rebase feature onto main */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_null_;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rc = GIT_REBASE(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"&amp;repopath",      /* repo            */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"&amp;current_id",    /* your branch tip */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"&amp;upstream_id",   /* rebase onto     */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"&amp;gituser",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"&amp;gitemail");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put rc=;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/* rc=0 success | rc&lt;&gt;0 = conflicts */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run;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Step 4: if conflicts → ABORT or CONTINUE */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_null_;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rc = git_rebase_op(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"&amp;repopath", "ABORT",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"feature/my_task",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"&amp;gituser", "&amp;gitemail");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run;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74320" y="398678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After a successful rebase, push the feature branch to GitHub and open a Pull Request.</a:t>
            </a:r>
            <a:endParaRPr lang="en-US" sz="950" dirty="0"/>
          </a:p>
        </p:txBody>
      </p:sp>
    </p:spTree>
  </p:cSld>
  <p:clrMapOvr>
    <a:masterClrMapping/>
  </p:clrMapOvr>
</p:sld>
</file>

<file path=unpacked_git/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Docs Added — upgrading your examples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4160520" cy="1261872"/>
          </a:xfrm>
          <a:prstGeom prst="rect">
            <a:avLst/>
          </a:prstGeom>
          <a:solidFill>
            <a:srgbClr val="1A2347"/>
          </a:solidFill>
          <a:ln w="12700">
            <a:solidFill>
              <a:srgbClr val="2A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14400"/>
            <a:ext cx="416052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" y="1005840"/>
            <a:ext cx="3941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git_stage_commit_example.sas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38328" y="1234440"/>
            <a:ext cx="329184" cy="182880"/>
          </a:xfrm>
          <a:prstGeom prst="rect">
            <a:avLst/>
          </a:prstGeom>
          <a:solidFill>
            <a:srgbClr val="4A0000"/>
          </a:solidFill>
          <a:ln w="12700">
            <a:solidFill>
              <a:srgbClr val="4A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" y="1234440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704088" y="1234440"/>
            <a:ext cx="3575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git_index_add() always called with "New"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38328" y="1481328"/>
            <a:ext cx="329184" cy="182880"/>
          </a:xfrm>
          <a:prstGeom prst="rect">
            <a:avLst/>
          </a:prstGeom>
          <a:solidFill>
            <a:srgbClr val="004A1E"/>
          </a:solidFill>
          <a:ln w="12700">
            <a:solidFill>
              <a:srgbClr val="004A1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" y="148132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2A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704088" y="1481328"/>
            <a:ext cx="3575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"New" | "Modified" | "Deleted" based on actual file state. Use git_status() to detect.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28600" y="2286000"/>
            <a:ext cx="4160520" cy="1261872"/>
          </a:xfrm>
          <a:prstGeom prst="rect">
            <a:avLst/>
          </a:prstGeom>
          <a:solidFill>
            <a:srgbClr val="1A2347"/>
          </a:solidFill>
          <a:ln w="12700">
            <a:solidFill>
              <a:srgbClr val="2A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28600" y="2286000"/>
            <a:ext cx="416052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" y="2377440"/>
            <a:ext cx="3941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git_branch_new.sas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38328" y="2606040"/>
            <a:ext cx="329184" cy="182880"/>
          </a:xfrm>
          <a:prstGeom prst="rect">
            <a:avLst/>
          </a:prstGeom>
          <a:solidFill>
            <a:srgbClr val="4A0000"/>
          </a:solidFill>
          <a:ln w="12700">
            <a:solidFill>
              <a:srgbClr val="4A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" y="2606040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704088" y="2606040"/>
            <a:ext cx="3575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 n (commit count integer) as commit ID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38328" y="2852928"/>
            <a:ext cx="329184" cy="182880"/>
          </a:xfrm>
          <a:prstGeom prst="rect">
            <a:avLst/>
          </a:prstGeom>
          <a:solidFill>
            <a:srgbClr val="004A1E"/>
          </a:solidFill>
          <a:ln w="12700">
            <a:solidFill>
              <a:srgbClr val="004A1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" y="285292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2A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704088" y="2852928"/>
            <a:ext cx="3575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pass the SHA string from git_commit_get(). n is just the count, not an ID.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28600" y="3657600"/>
            <a:ext cx="4160520" cy="1261872"/>
          </a:xfrm>
          <a:prstGeom prst="rect">
            <a:avLst/>
          </a:prstGeom>
          <a:solidFill>
            <a:srgbClr val="1A2347"/>
          </a:solidFill>
          <a:ln w="12700">
            <a:solidFill>
              <a:srgbClr val="2A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28600" y="3657600"/>
            <a:ext cx="416052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8328" y="3749040"/>
            <a:ext cx="3941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git_audit_trail_example.sas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38328" y="3977640"/>
            <a:ext cx="329184" cy="182880"/>
          </a:xfrm>
          <a:prstGeom prst="rect">
            <a:avLst/>
          </a:prstGeom>
          <a:solidFill>
            <a:srgbClr val="4A0000"/>
          </a:solidFill>
          <a:ln w="12700">
            <a:solidFill>
              <a:srgbClr val="4A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328" y="3977640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704088" y="3977640"/>
            <a:ext cx="3575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Looped all commits without branch filtering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38328" y="4224528"/>
            <a:ext cx="329184" cy="182880"/>
          </a:xfrm>
          <a:prstGeom prst="rect">
            <a:avLst/>
          </a:prstGeom>
          <a:solidFill>
            <a:srgbClr val="004A1E"/>
          </a:solidFill>
          <a:ln w="12700">
            <a:solidFill>
              <a:srgbClr val="004A1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8328" y="422452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2A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704088" y="4224528"/>
            <a:ext cx="3575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on in_current_branch="TRUE" to scope to the active branch.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480560" y="914400"/>
            <a:ext cx="4160520" cy="1261872"/>
          </a:xfrm>
          <a:prstGeom prst="rect">
            <a:avLst/>
          </a:prstGeom>
          <a:solidFill>
            <a:srgbClr val="1A2347"/>
          </a:solidFill>
          <a:ln w="12700">
            <a:solidFill>
              <a:srgbClr val="2A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480560" y="914400"/>
            <a:ext cx="416052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90288" y="1005840"/>
            <a:ext cx="3941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961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git_stage_commit_recursive_macro.sas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90288" y="1234440"/>
            <a:ext cx="329184" cy="182880"/>
          </a:xfrm>
          <a:prstGeom prst="rect">
            <a:avLst/>
          </a:prstGeom>
          <a:solidFill>
            <a:srgbClr val="4A0000"/>
          </a:solidFill>
          <a:ln w="12700">
            <a:solidFill>
              <a:srgbClr val="4A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90288" y="1234440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956048" y="1234440"/>
            <a:ext cx="3575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"New" for every file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590288" y="1481328"/>
            <a:ext cx="329184" cy="182880"/>
          </a:xfrm>
          <a:prstGeom prst="rect">
            <a:avLst/>
          </a:prstGeom>
          <a:solidFill>
            <a:srgbClr val="004A1E"/>
          </a:solidFill>
          <a:ln w="12700">
            <a:solidFill>
              <a:srgbClr val="004A1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90288" y="148132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2A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956048" y="1481328"/>
            <a:ext cx="3575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git_status() per file, then pass correct status string.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480560" y="2286000"/>
            <a:ext cx="4160520" cy="1261872"/>
          </a:xfrm>
          <a:prstGeom prst="rect">
            <a:avLst/>
          </a:prstGeom>
          <a:solidFill>
            <a:srgbClr val="1A2347"/>
          </a:solidFill>
          <a:ln w="12700">
            <a:solidFill>
              <a:srgbClr val="2A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480560" y="2286000"/>
            <a:ext cx="416052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90288" y="2377440"/>
            <a:ext cx="3941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git_rebase_example_studio.sas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590288" y="2606040"/>
            <a:ext cx="329184" cy="182880"/>
          </a:xfrm>
          <a:prstGeom prst="rect">
            <a:avLst/>
          </a:prstGeom>
          <a:solidFill>
            <a:srgbClr val="4A0000"/>
          </a:solidFill>
          <a:ln w="12700">
            <a:solidFill>
              <a:srgbClr val="4A00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90288" y="2606040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4956048" y="2606040"/>
            <a:ext cx="3575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dataset variable "his-branch" / "your-branch" without parameterisation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590288" y="2852928"/>
            <a:ext cx="329184" cy="182880"/>
          </a:xfrm>
          <a:prstGeom prst="rect">
            <a:avLst/>
          </a:prstGeom>
          <a:solidFill>
            <a:srgbClr val="004A1E"/>
          </a:solidFill>
          <a:ln w="12700">
            <a:solidFill>
              <a:srgbClr val="004A1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90288" y="285292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2A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4956048" y="2852928"/>
            <a:ext cx="3575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macro variables &amp;upstream_id and &amp;current_id captured via git_commit_get(1,...).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480560" y="3657600"/>
            <a:ext cx="4160520" cy="1261872"/>
          </a:xfrm>
          <a:prstGeom prst="rect">
            <a:avLst/>
          </a:prstGeom>
          <a:solidFill>
            <a:srgbClr val="1A2347"/>
          </a:solidFill>
          <a:ln w="12700">
            <a:solidFill>
              <a:srgbClr val="2A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480560" y="3657600"/>
            <a:ext cx="4160520" cy="54864"/>
          </a:xfrm>
          <a:prstGeom prst="rect">
            <a:avLst/>
          </a:prstGeom>
          <a:solidFill>
            <a:srgbClr val="02A675"/>
          </a:solidFill>
          <a:ln w="12700">
            <a:solidFill>
              <a:srgbClr val="02A67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90288" y="3749040"/>
            <a:ext cx="3941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2A6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Correction: git_index_add_all() does not exist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590288" y="3977640"/>
            <a:ext cx="329184" cy="182880"/>
          </a:xfrm>
          <a:prstGeom prst="rect">
            <a:avLst/>
          </a:prstGeom>
          <a:solidFill>
            <a:srgbClr val="4A0000"/>
          </a:solidFill>
          <a:ln w="12700">
            <a:solidFill>
              <a:srgbClr val="4A000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90288" y="3977640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4956048" y="3977640"/>
            <a:ext cx="3575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assumed from docs — function does not exist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590288" y="4224528"/>
            <a:ext cx="329184" cy="182880"/>
          </a:xfrm>
          <a:prstGeom prst="rect">
            <a:avLst/>
          </a:prstGeom>
          <a:solidFill>
            <a:srgbClr val="004A1E"/>
          </a:solidFill>
          <a:ln w="12700">
            <a:solidFill>
              <a:srgbClr val="004A1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90288" y="422452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2A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4956048" y="4224528"/>
            <a:ext cx="3575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git_index_add() per file remains the correct approach. Always pass the correct status string: "New", "Modified", or "Deleted".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2347"/>
          </a:solidFill>
          <a:ln w="12700">
            <a:solidFill>
              <a:srgbClr val="1A234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74320" y="4873752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SAS Documentation — GIT Functions Reference  •  github.com/paulvanmol/usinggitinbasesas</a:t>
            </a:r>
            <a:endParaRPr lang="en-US" sz="900" dirty="0"/>
          </a:p>
        </p:txBody>
      </p:sp>
    </p:spTree>
  </p:cSld>
  <p:clrMapOvr>
    <a:masterClrMapping/>
  </p:clrMapOvr>
</p:sld>
</file>

<file path=unpacked_git/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914400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 — All Git Functions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4343400" cy="4069080"/>
          </a:xfrm>
          <a:prstGeom prst="rect">
            <a:avLst/>
          </a:prstGeom>
          <a:solidFill>
            <a:srgbClr val="1A2347"/>
          </a:solidFill>
          <a:ln w="12700">
            <a:solidFill>
              <a:srgbClr val="2A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14400"/>
            <a:ext cx="43434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" y="1005840"/>
            <a:ext cx="4123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Workflow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8328" y="1316736"/>
            <a:ext cx="4123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git_init_repo(repo, branch, remote)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38328" y="1481328"/>
            <a:ext cx="41239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Initialise local repo (remote optional)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38328" y="1655064"/>
            <a:ext cx="4123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git_clone(url, path)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38328" y="1819656"/>
            <a:ext cx="41239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from GitHub/GitLab/etc.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38328" y="1993392"/>
            <a:ext cx="4123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git_status(repo)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38328" y="2157984"/>
            <a:ext cx="41239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of changed files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38328" y="2331720"/>
            <a:ext cx="4123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git_status_free(repo)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38328" y="2496312"/>
            <a:ext cx="41239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status handle (call between uses)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38328" y="2670048"/>
            <a:ext cx="4123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git_index_add(repo, file, status)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38328" y="2834640"/>
            <a:ext cx="41239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"New"|"Modified"|"Deleted"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38328" y="3008376"/>
            <a:ext cx="4123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git_index_add(repo, file, status)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38328" y="3172968"/>
            <a:ext cx="41239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"New"|"Modified"|"Deleted" — no shortcut exists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38328" y="3346704"/>
            <a:ext cx="4123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git_commit(repo,ref,name,email,msg)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38328" y="3511296"/>
            <a:ext cx="41239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"HEAD" for latest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38328" y="3685032"/>
            <a:ext cx="4123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git_commit_log(repo)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38328" y="3849624"/>
            <a:ext cx="41239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of commits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38328" y="4023360"/>
            <a:ext cx="4123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git_commit_get(n,repo,attr,out)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38328" y="4187952"/>
            <a:ext cx="41239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"id"|"message"|"author"|"time"|"in_current_branch"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38328" y="4361688"/>
            <a:ext cx="4123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git_push(repo, user, pat)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38328" y="4526280"/>
            <a:ext cx="41239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committed changes to remote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338328" y="4700016"/>
            <a:ext cx="4123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git_pull(repo, user, pat)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38328" y="4864608"/>
            <a:ext cx="41239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latest from remote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800600" y="914400"/>
            <a:ext cx="4343400" cy="4069080"/>
          </a:xfrm>
          <a:prstGeom prst="rect">
            <a:avLst/>
          </a:prstGeom>
          <a:solidFill>
            <a:srgbClr val="1A2347"/>
          </a:solidFill>
          <a:ln w="12700">
            <a:solidFill>
              <a:srgbClr val="2A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00600" y="914400"/>
            <a:ext cx="43434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10328" y="1005840"/>
            <a:ext cx="4123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Workflow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910328" y="1316736"/>
            <a:ext cx="4123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git_branch_new(repo,commit_id,name,overwrite)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910328" y="1481328"/>
            <a:ext cx="41239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branch from SHA commit ID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4910328" y="1655064"/>
            <a:ext cx="4123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git_branch_chkout(repo, branch)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910328" y="1819656"/>
            <a:ext cx="41239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a branch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910328" y="1993392"/>
            <a:ext cx="4123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git_stash(repo, name, email)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4910328" y="2157984"/>
            <a:ext cx="41239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Shelve uncommitted changes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4910328" y="2331720"/>
            <a:ext cx="4123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git_stash_pop(repo)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910328" y="2496312"/>
            <a:ext cx="41239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+ remove from stack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4910328" y="2670048"/>
            <a:ext cx="4123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git_stash_apply(repo)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910328" y="2834640"/>
            <a:ext cx="41239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Restore, keep on stack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910328" y="3008376"/>
            <a:ext cx="4123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git_stash_drop(repo)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910328" y="3172968"/>
            <a:ext cx="41239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without restoring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4910328" y="3346704"/>
            <a:ext cx="4123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git_rebase(repo,current_id,upstream_id,name,email)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4910328" y="3511296"/>
            <a:ext cx="41239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commits onto upstream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4910328" y="3685032"/>
            <a:ext cx="4123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git_rebase_op(repo,op,branch,name,email)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4910328" y="3849624"/>
            <a:ext cx="41239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"CONTINUE"|"SKIP"|"ABORT"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4910328" y="4023360"/>
            <a:ext cx="4123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git_set_url(repo, url)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4910328" y="4187952"/>
            <a:ext cx="41239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remote URL to local repo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228600" y="5047488"/>
            <a:ext cx="86868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functions return rc=0 on success. Non-zero rc = error — always PUT rc= after each call for debugging.</a:t>
            </a:r>
            <a:endParaRPr lang="en-US" sz="900" dirty="0"/>
          </a:p>
        </p:txBody>
      </p:sp>
    </p:spTree>
  </p:cSld>
  <p:clrMapOvr>
    <a:masterClrMapping/>
  </p:clrMapOvr>
</p:sld>
</file>

<file path=unpacked_git/ppt/tableStyles.xml><?xml version="1.0" encoding="utf-8"?>
<a:tblStyleLst xmlns:a="http://schemas.openxmlformats.org/drawingml/2006/main" def="{5C22544A-7EE6-4342-B048-85BDC9FD1C3A}"/>
</file>

<file path=unpacked_git/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unpacked_git/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